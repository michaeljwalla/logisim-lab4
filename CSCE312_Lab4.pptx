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99" autoAdjust="0"/>
    <p:restoredTop sz="94610"/>
  </p:normalViewPr>
  <p:slideViewPr>
    <p:cSldViewPr snapToGrid="0" snapToObjects="1">
      <p:cViewPr varScale="1">
        <p:scale>
          <a:sx n="117" d="100"/>
          <a:sy n="117" d="100"/>
        </p:scale>
        <p:origin x="490"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3232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57973" y="1507253"/>
            <a:ext cx="8421775" cy="753626"/>
          </a:xfrm>
          <a:prstGeom prst="rect">
            <a:avLst/>
          </a:prstGeom>
          <a:noFill/>
          <a:ln/>
        </p:spPr>
        <p:txBody>
          <a:bodyPr wrap="square" rtlCol="0" anchor="ctr"/>
          <a:lstStyle/>
          <a:p>
            <a:pPr marL="0" indent="0" algn="ctr">
              <a:buNone/>
            </a:pPr>
            <a:r>
              <a:rPr lang="en-US" sz="4000" dirty="0">
                <a:solidFill>
                  <a:srgbClr val="FFFFFF"/>
                </a:solidFill>
                <a:latin typeface="Century Gothic" pitchFamily="34" charset="0"/>
                <a:ea typeface="Century Gothic" pitchFamily="34" charset="-122"/>
                <a:cs typeface="Century Gothic" pitchFamily="34" charset="-120"/>
              </a:rPr>
              <a:t>CSCE 312 LAB 4</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79231" y="816429"/>
            <a:ext cx="7132320" cy="722225"/>
          </a:xfrm>
          <a:prstGeom prst="rect">
            <a:avLst/>
          </a:prstGeom>
          <a:noFill/>
          <a:ln/>
        </p:spPr>
        <p:txBody>
          <a:bodyPr wrap="square" lIns="635" tIns="635" rIns="635" bIns="635" rtlCol="0" anchor="ctr"/>
          <a:lstStyle/>
          <a:p>
            <a:pPr marL="0" indent="0">
              <a:buNone/>
            </a:pPr>
            <a:r>
              <a:rPr lang="en-US" sz="3200" dirty="0">
                <a:solidFill>
                  <a:srgbClr val="FFFFFF"/>
                </a:solidFill>
                <a:latin typeface="Century Gothic" pitchFamily="34" charset="0"/>
                <a:ea typeface="Century Gothic" pitchFamily="34" charset="-122"/>
                <a:cs typeface="Century Gothic" pitchFamily="34" charset="-120"/>
              </a:rPr>
              <a:t>LAB4</a:t>
            </a:r>
            <a:endParaRPr lang="en-US" sz="3200" dirty="0"/>
          </a:p>
        </p:txBody>
      </p:sp>
      <p:sp>
        <p:nvSpPr>
          <p:cNvPr id="3" name="Text 1"/>
          <p:cNvSpPr txBox="1"/>
          <p:nvPr/>
        </p:nvSpPr>
        <p:spPr>
          <a:xfrm>
            <a:off x="1004835" y="2041071"/>
            <a:ext cx="7315200" cy="2286000"/>
          </a:xfrm>
          <a:prstGeom prst="rect">
            <a:avLst/>
          </a:prstGeom>
          <a:noFill/>
          <a:ln/>
        </p:spPr>
        <p:txBody>
          <a:bodyPr wrap="square" lIns="635" tIns="635" rIns="635" bIns="635" rtlCol="0" anchor="t"/>
          <a:lstStyle/>
          <a:p>
            <a:pPr marL="279400" indent="-279400">
              <a:spcAft>
                <a:spcPts val="3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Report Deadline: 11 October midnight</a:t>
            </a:r>
            <a:endParaRPr lang="en-US" sz="1300" dirty="0"/>
          </a:p>
          <a:p>
            <a:pPr marL="279400" indent="-279400">
              <a:spcAft>
                <a:spcPts val="3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Demonstrations: 12 October Labs</a:t>
            </a:r>
            <a:endParaRPr lang="en-US" sz="1300" dirty="0"/>
          </a:p>
          <a:p>
            <a:pPr marL="279400" indent="-279400">
              <a:spcAft>
                <a:spcPts val="3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To be done in groups of 4</a:t>
            </a:r>
            <a:endParaRPr lang="en-US" sz="1300" dirty="0"/>
          </a:p>
          <a:p>
            <a:pPr marL="279400" indent="-279400">
              <a:spcAft>
                <a:spcPts val="3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You need to submit a common lab report </a:t>
            </a:r>
            <a:r>
              <a:rPr lang="en-GB" altLang="en-US" sz="1300" b="1" dirty="0">
                <a:solidFill>
                  <a:srgbClr val="404040"/>
                </a:solidFill>
                <a:latin typeface="Century Gothic" pitchFamily="34" charset="0"/>
                <a:ea typeface="Century Gothic" pitchFamily="34" charset="-122"/>
                <a:cs typeface="Century Gothic" pitchFamily="34" charset="-120"/>
              </a:rPr>
              <a:t>as a group</a:t>
            </a:r>
            <a:r>
              <a:rPr lang="en-GB" altLang="en-US" sz="1300" dirty="0">
                <a:solidFill>
                  <a:srgbClr val="595959"/>
                </a:solidFill>
                <a:latin typeface="Century Gothic" pitchFamily="34" charset="0"/>
                <a:ea typeface="Century Gothic" pitchFamily="34" charset="-122"/>
                <a:cs typeface="Century Gothic" pitchFamily="34" charset="-120"/>
              </a:rPr>
              <a:t> along with all the files you create</a:t>
            </a:r>
            <a:endParaRPr lang="en-US" sz="1300" dirty="0"/>
          </a:p>
          <a:p>
            <a:pPr marL="279400" indent="-279400">
              <a:spcAft>
                <a:spcPts val="3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You also need to submit an additional 1-page report </a:t>
            </a:r>
            <a:r>
              <a:rPr lang="en-GB" altLang="en-US" sz="1300" b="1" dirty="0">
                <a:solidFill>
                  <a:srgbClr val="404040"/>
                </a:solidFill>
                <a:latin typeface="Century Gothic" pitchFamily="34" charset="0"/>
                <a:ea typeface="Century Gothic" pitchFamily="34" charset="-122"/>
                <a:cs typeface="Century Gothic" pitchFamily="34" charset="-120"/>
              </a:rPr>
              <a:t>individually</a:t>
            </a:r>
            <a:r>
              <a:rPr lang="en-GB" altLang="en-US" sz="1300" dirty="0">
                <a:solidFill>
                  <a:srgbClr val="595959"/>
                </a:solidFill>
                <a:latin typeface="Century Gothic" pitchFamily="34" charset="0"/>
                <a:ea typeface="Century Gothic" pitchFamily="34" charset="-122"/>
                <a:cs typeface="Century Gothic" pitchFamily="34" charset="-120"/>
              </a:rPr>
              <a:t> to explain what your individual role and contribution was and critique the group design process.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79231" y="816429"/>
            <a:ext cx="7132320" cy="722225"/>
          </a:xfrm>
          <a:prstGeom prst="rect">
            <a:avLst/>
          </a:prstGeom>
          <a:noFill/>
          <a:ln/>
        </p:spPr>
        <p:txBody>
          <a:bodyPr wrap="square" lIns="635" tIns="635" rIns="635" bIns="635" rtlCol="0" anchor="ctr"/>
          <a:lstStyle/>
          <a:p>
            <a:pPr marL="0" indent="0">
              <a:buNone/>
            </a:pPr>
            <a:r>
              <a:rPr lang="en-US" sz="3200" dirty="0">
                <a:solidFill>
                  <a:srgbClr val="FFFFFF"/>
                </a:solidFill>
                <a:latin typeface="Century Gothic" pitchFamily="34" charset="0"/>
                <a:ea typeface="Century Gothic" pitchFamily="34" charset="-122"/>
                <a:cs typeface="Century Gothic" pitchFamily="34" charset="-120"/>
              </a:rPr>
              <a:t>PROBLEM 1</a:t>
            </a:r>
            <a:endParaRPr lang="en-US" sz="3200" dirty="0"/>
          </a:p>
        </p:txBody>
      </p:sp>
      <p:sp>
        <p:nvSpPr>
          <p:cNvPr id="3" name="Text 1"/>
          <p:cNvSpPr txBox="1"/>
          <p:nvPr/>
        </p:nvSpPr>
        <p:spPr>
          <a:xfrm>
            <a:off x="1004835" y="2041071"/>
            <a:ext cx="7315200" cy="1463040"/>
          </a:xfrm>
          <a:prstGeom prst="rect">
            <a:avLst/>
          </a:prstGeom>
          <a:noFill/>
          <a:ln/>
        </p:spPr>
        <p:txBody>
          <a:bodyPr wrap="square" lIns="635" tIns="635" rIns="635" bIns="635" rtlCol="0" anchor="t"/>
          <a:lstStyle/>
          <a:p>
            <a:pPr marL="279400" indent="-279400">
              <a:spcAft>
                <a:spcPts val="3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Start building a processor</a:t>
            </a:r>
            <a:endParaRPr lang="en-US" sz="1300" dirty="0"/>
          </a:p>
          <a:p>
            <a:pPr marL="279400" indent="-279400">
              <a:spcAft>
                <a:spcPts val="3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For this lab, you design and simulate the peripheral components </a:t>
            </a:r>
            <a:r>
              <a:rPr lang="en-GB" altLang="en-US" sz="1050" dirty="0">
                <a:solidFill>
                  <a:srgbClr val="595959"/>
                </a:solidFill>
                <a:latin typeface="Century Gothic" pitchFamily="34" charset="0"/>
                <a:ea typeface="Century Gothic" pitchFamily="34" charset="-122"/>
                <a:cs typeface="Century Gothic" pitchFamily="34" charset="-120"/>
              </a:rPr>
              <a:t>(IO interface circuitry, address/data/control bus, encoders, decoders, counters, registers)</a:t>
            </a:r>
            <a:endParaRPr lang="en-US" sz="1300" dirty="0"/>
          </a:p>
          <a:p>
            <a:pPr marL="279400" indent="-279400">
              <a:spcAft>
                <a:spcPts val="300"/>
              </a:spcAft>
              <a:buClr>
                <a:srgbClr val="B5135F"/>
              </a:buClr>
              <a:buSzPct val="80000"/>
              <a:buChar char="●"/>
            </a:pPr>
            <a:r>
              <a:rPr lang="en-US" sz="1050" dirty="0">
                <a:solidFill>
                  <a:srgbClr val="595959"/>
                </a:solidFill>
                <a:latin typeface="Century Gothic" pitchFamily="34" charset="0"/>
                <a:ea typeface="Century Gothic" pitchFamily="34" charset="-122"/>
                <a:cs typeface="Century Gothic" pitchFamily="34" charset="-120"/>
              </a:rPr>
              <a:t>First, let us understand how a processor works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79231" y="816429"/>
            <a:ext cx="7132320" cy="722225"/>
          </a:xfrm>
          <a:prstGeom prst="rect">
            <a:avLst/>
          </a:prstGeom>
          <a:noFill/>
          <a:ln/>
        </p:spPr>
        <p:txBody>
          <a:bodyPr wrap="square" lIns="635" tIns="635" rIns="635" bIns="635" rtlCol="0" anchor="ctr"/>
          <a:lstStyle/>
          <a:p>
            <a:pPr marL="0" indent="0">
              <a:buNone/>
            </a:pPr>
            <a:r>
              <a:rPr lang="en-US" sz="3200" dirty="0">
                <a:solidFill>
                  <a:srgbClr val="FFFFFF"/>
                </a:solidFill>
                <a:latin typeface="Century Gothic" pitchFamily="34" charset="0"/>
                <a:ea typeface="Century Gothic" pitchFamily="34" charset="-122"/>
                <a:cs typeface="Century Gothic" pitchFamily="34" charset="-120"/>
              </a:rPr>
              <a:t>Von Neumann Architecture</a:t>
            </a:r>
            <a:endParaRPr lang="en-US" sz="3200" dirty="0"/>
          </a:p>
        </p:txBody>
      </p:sp>
      <p:pic>
        <p:nvPicPr>
          <p:cNvPr id="3" name="Image 0" descr="vn.png"/>
          <p:cNvPicPr>
            <a:picLocks noChangeAspect="1"/>
          </p:cNvPicPr>
          <p:nvPr/>
        </p:nvPicPr>
        <p:blipFill>
          <a:blip r:embed="rId4"/>
          <a:stretch>
            <a:fillRect/>
          </a:stretch>
        </p:blipFill>
        <p:spPr>
          <a:xfrm>
            <a:off x="1789863" y="1570055"/>
            <a:ext cx="5118379" cy="295170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sysbus.png"/>
          <p:cNvPicPr>
            <a:picLocks noChangeAspect="1"/>
          </p:cNvPicPr>
          <p:nvPr/>
        </p:nvPicPr>
        <p:blipFill>
          <a:blip r:embed="rId4"/>
          <a:stretch>
            <a:fillRect/>
          </a:stretch>
        </p:blipFill>
        <p:spPr>
          <a:xfrm>
            <a:off x="1997110" y="1149280"/>
            <a:ext cx="5149780" cy="299566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79231" y="816429"/>
            <a:ext cx="7132320" cy="722225"/>
          </a:xfrm>
          <a:prstGeom prst="rect">
            <a:avLst/>
          </a:prstGeom>
          <a:noFill/>
          <a:ln/>
        </p:spPr>
        <p:txBody>
          <a:bodyPr wrap="square" lIns="635" tIns="635" rIns="635" bIns="635" rtlCol="0" anchor="ctr"/>
          <a:lstStyle/>
          <a:p>
            <a:pPr marL="0" indent="0">
              <a:buNone/>
            </a:pPr>
            <a:r>
              <a:rPr lang="en-US" sz="3200" dirty="0">
                <a:solidFill>
                  <a:srgbClr val="FFFFFF"/>
                </a:solidFill>
                <a:latin typeface="Century Gothic" pitchFamily="34" charset="0"/>
                <a:ea typeface="Century Gothic" pitchFamily="34" charset="-122"/>
                <a:cs typeface="Century Gothic" pitchFamily="34" charset="-120"/>
              </a:rPr>
              <a:t>COMPONENTS</a:t>
            </a:r>
            <a:endParaRPr lang="en-US" sz="3200" dirty="0"/>
          </a:p>
        </p:txBody>
      </p:sp>
      <p:sp>
        <p:nvSpPr>
          <p:cNvPr id="3" name="Text 1"/>
          <p:cNvSpPr txBox="1"/>
          <p:nvPr/>
        </p:nvSpPr>
        <p:spPr>
          <a:xfrm>
            <a:off x="1004835" y="2041071"/>
            <a:ext cx="7315200" cy="2194560"/>
          </a:xfrm>
          <a:prstGeom prst="rect">
            <a:avLst/>
          </a:prstGeom>
          <a:noFill/>
          <a:ln/>
        </p:spPr>
        <p:txBody>
          <a:bodyPr wrap="square" lIns="635" tIns="635" rIns="635" bIns="635" rtlCol="0" anchor="t"/>
          <a:lstStyle/>
          <a:p>
            <a:pPr marL="279400" indent="-279400">
              <a:spcAft>
                <a:spcPts val="3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INPUT: Mouse, Keyboard, etc</a:t>
            </a:r>
            <a:endParaRPr lang="en-US" sz="1300" dirty="0"/>
          </a:p>
          <a:p>
            <a:pPr marL="279400" indent="-279400">
              <a:spcAft>
                <a:spcPts val="3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OUTPUT: Speaker, Monitor, Printer, etc</a:t>
            </a:r>
            <a:endParaRPr lang="en-US" sz="1300" dirty="0"/>
          </a:p>
          <a:p>
            <a:pPr marL="279400" indent="-279400">
              <a:spcAft>
                <a:spcPts val="3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MEMORY: DRAM, SRAM, etc</a:t>
            </a:r>
            <a:endParaRPr lang="en-US" sz="1300" dirty="0"/>
          </a:p>
          <a:p>
            <a:pPr marL="279400" indent="-279400">
              <a:spcAft>
                <a:spcPts val="3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CPU: Central Processing Unit</a:t>
            </a:r>
            <a:endParaRPr lang="en-US" sz="1300" dirty="0"/>
          </a:p>
          <a:p>
            <a:pPr marL="457200" lvl="1" indent="-228600">
              <a:spcAft>
                <a:spcPts val="300"/>
              </a:spcAft>
              <a:buClr>
                <a:srgbClr val="B5135F"/>
              </a:buClr>
              <a:buSzPct val="100000"/>
              <a:buChar char="○"/>
            </a:pPr>
            <a:r>
              <a:rPr lang="en-US" sz="1150" dirty="0">
                <a:solidFill>
                  <a:srgbClr val="595959"/>
                </a:solidFill>
                <a:latin typeface="Century Gothic" pitchFamily="34" charset="0"/>
                <a:ea typeface="Century Gothic" pitchFamily="34" charset="-122"/>
                <a:cs typeface="Century Gothic" pitchFamily="34" charset="-120"/>
              </a:rPr>
              <a:t>ALU: Arithmetic Logical Unit (Adders, Subtractors, Comparators, etc)</a:t>
            </a:r>
            <a:endParaRPr lang="en-US" sz="1300" dirty="0"/>
          </a:p>
          <a:p>
            <a:pPr marL="457200" lvl="1" indent="-228600">
              <a:spcAft>
                <a:spcPts val="300"/>
              </a:spcAft>
              <a:buClr>
                <a:srgbClr val="B5135F"/>
              </a:buClr>
              <a:buSzPct val="100000"/>
              <a:buChar char="○"/>
            </a:pPr>
            <a:r>
              <a:rPr lang="en-US" sz="1150" dirty="0">
                <a:solidFill>
                  <a:srgbClr val="595959"/>
                </a:solidFill>
                <a:latin typeface="Century Gothic" pitchFamily="34" charset="0"/>
                <a:ea typeface="Century Gothic" pitchFamily="34" charset="-122"/>
                <a:cs typeface="Century Gothic" pitchFamily="34" charset="-120"/>
              </a:rPr>
              <a:t>Control Unit: Send Signals (Get data, Send data, Read Data, Write Data)</a:t>
            </a:r>
            <a:endParaRPr lang="en-US" sz="1300" dirty="0"/>
          </a:p>
          <a:p>
            <a:pPr marL="457200" lvl="1" indent="-228600">
              <a:spcAft>
                <a:spcPts val="300"/>
              </a:spcAft>
              <a:buClr>
                <a:srgbClr val="B5135F"/>
              </a:buClr>
              <a:buSzPct val="100000"/>
              <a:buChar char="○"/>
            </a:pPr>
            <a:r>
              <a:rPr lang="en-US" sz="1150" dirty="0">
                <a:solidFill>
                  <a:srgbClr val="595959"/>
                </a:solidFill>
                <a:latin typeface="Century Gothic" pitchFamily="34" charset="0"/>
                <a:ea typeface="Century Gothic" pitchFamily="34" charset="-122"/>
                <a:cs typeface="Century Gothic" pitchFamily="34" charset="-120"/>
              </a:rPr>
              <a:t>Registers: Temporary storage (data just retrieved from memory, data that is being calculated)</a:t>
            </a:r>
            <a:endParaRPr lang="en-US" sz="1300" dirty="0"/>
          </a:p>
          <a:p>
            <a:pPr marL="457200" lvl="1" indent="-228600">
              <a:spcAft>
                <a:spcPts val="300"/>
              </a:spcAft>
              <a:buClr>
                <a:srgbClr val="B5135F"/>
              </a:buClr>
              <a:buSzPct val="100000"/>
              <a:buChar char="○"/>
            </a:pPr>
            <a:r>
              <a:rPr lang="en-US" sz="1150" dirty="0">
                <a:solidFill>
                  <a:srgbClr val="595959"/>
                </a:solidFill>
                <a:latin typeface="Century Gothic" pitchFamily="34" charset="0"/>
                <a:ea typeface="Century Gothic" pitchFamily="34" charset="-122"/>
                <a:cs typeface="Century Gothic" pitchFamily="34" charset="-120"/>
              </a:rPr>
              <a:t>Memory?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79231" y="816429"/>
            <a:ext cx="7132320" cy="722225"/>
          </a:xfrm>
          <a:prstGeom prst="rect">
            <a:avLst/>
          </a:prstGeom>
          <a:noFill/>
          <a:ln/>
        </p:spPr>
        <p:txBody>
          <a:bodyPr wrap="square" lIns="635" tIns="635" rIns="635" bIns="635" rtlCol="0" anchor="ctr"/>
          <a:lstStyle/>
          <a:p>
            <a:pPr marL="0" indent="0">
              <a:buNone/>
            </a:pPr>
            <a:r>
              <a:rPr lang="en-US" sz="3200" dirty="0">
                <a:solidFill>
                  <a:srgbClr val="FFFFFF"/>
                </a:solidFill>
                <a:latin typeface="Century Gothic" pitchFamily="34" charset="0"/>
                <a:ea typeface="Century Gothic" pitchFamily="34" charset="-122"/>
                <a:cs typeface="Century Gothic" pitchFamily="34" charset="-120"/>
              </a:rPr>
              <a:t>BUSES</a:t>
            </a:r>
            <a:endParaRPr lang="en-US" sz="3200" dirty="0"/>
          </a:p>
        </p:txBody>
      </p:sp>
      <p:sp>
        <p:nvSpPr>
          <p:cNvPr id="3" name="Text 1"/>
          <p:cNvSpPr txBox="1"/>
          <p:nvPr/>
        </p:nvSpPr>
        <p:spPr>
          <a:xfrm>
            <a:off x="1004835" y="2041071"/>
            <a:ext cx="7315200" cy="2194560"/>
          </a:xfrm>
          <a:prstGeom prst="rect">
            <a:avLst/>
          </a:prstGeom>
          <a:noFill/>
          <a:ln/>
        </p:spPr>
        <p:txBody>
          <a:bodyPr wrap="square" lIns="635" tIns="635" rIns="635" bIns="635" rtlCol="0" anchor="t"/>
          <a:lstStyle/>
          <a:p>
            <a:pPr marL="279400" indent="-279400">
              <a:spcAft>
                <a:spcPts val="14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CONTROL BUS</a:t>
            </a:r>
            <a:r>
              <a:rPr lang="en-GB" altLang="en-US" sz="1300" dirty="0">
                <a:solidFill>
                  <a:srgbClr val="404040"/>
                </a:solidFill>
                <a:latin typeface="Arial" pitchFamily="34" charset="0"/>
                <a:ea typeface="Arial" pitchFamily="34" charset="-122"/>
                <a:cs typeface="Arial" pitchFamily="34" charset="-120"/>
              </a:rPr>
              <a:t>: The common signals that are transferred to the control bus from CPU to devices and vice versa are memory read, memory writes, I/O read, I/O write. (what to do?)</a:t>
            </a:r>
            <a:endParaRPr lang="en-US" sz="1300" dirty="0"/>
          </a:p>
          <a:p>
            <a:pPr marL="279400" indent="-279400">
              <a:spcAft>
                <a:spcPts val="14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ADDRESS BUS</a:t>
            </a:r>
            <a:r>
              <a:rPr lang="en-GB" altLang="en-US" sz="1300" dirty="0">
                <a:solidFill>
                  <a:srgbClr val="404040"/>
                </a:solidFill>
                <a:latin typeface="Arial" pitchFamily="34" charset="0"/>
                <a:ea typeface="Arial" pitchFamily="34" charset="-122"/>
                <a:cs typeface="Arial" pitchFamily="34" charset="-120"/>
              </a:rPr>
              <a:t>: The address bus is used by the CPU to send the address of the memory location or the input/output port that is to be accessed at the instant. (where to get data from/make changes?)</a:t>
            </a:r>
            <a:endParaRPr lang="en-US" sz="1300" dirty="0"/>
          </a:p>
          <a:p>
            <a:pPr marL="279400" indent="-279400">
              <a:spcAft>
                <a:spcPts val="14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DATA BUS</a:t>
            </a:r>
            <a:r>
              <a:rPr lang="en-GB" altLang="en-US" sz="1300" dirty="0">
                <a:solidFill>
                  <a:srgbClr val="404040"/>
                </a:solidFill>
                <a:latin typeface="Arial" pitchFamily="34" charset="0"/>
                <a:ea typeface="Arial" pitchFamily="34" charset="-122"/>
                <a:cs typeface="Arial" pitchFamily="34" charset="-120"/>
              </a:rPr>
              <a:t>: A data bus is used to carry the data and instructions from the CPU to memory and peripheral devices and vice versa. (what to send/get?)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79231" y="816429"/>
            <a:ext cx="7132320" cy="722225"/>
          </a:xfrm>
          <a:prstGeom prst="rect">
            <a:avLst/>
          </a:prstGeom>
          <a:noFill/>
          <a:ln/>
        </p:spPr>
        <p:txBody>
          <a:bodyPr wrap="square" lIns="635" tIns="635" rIns="635" bIns="635" rtlCol="0" anchor="ctr"/>
          <a:lstStyle/>
          <a:p>
            <a:pPr marL="0" indent="0">
              <a:buNone/>
            </a:pPr>
            <a:r>
              <a:rPr lang="en-US" sz="3200" dirty="0">
                <a:solidFill>
                  <a:srgbClr val="FFFFFF"/>
                </a:solidFill>
                <a:latin typeface="Century Gothic" pitchFamily="34" charset="0"/>
                <a:ea typeface="Century Gothic" pitchFamily="34" charset="-122"/>
                <a:cs typeface="Century Gothic" pitchFamily="34" charset="-120"/>
              </a:rPr>
              <a:t>ROM in Logisim</a:t>
            </a:r>
            <a:endParaRPr lang="en-US" sz="3200" dirty="0"/>
          </a:p>
        </p:txBody>
      </p:sp>
      <p:sp>
        <p:nvSpPr>
          <p:cNvPr id="3" name="Text 1"/>
          <p:cNvSpPr txBox="1"/>
          <p:nvPr/>
        </p:nvSpPr>
        <p:spPr>
          <a:xfrm>
            <a:off x="1004835" y="1789863"/>
            <a:ext cx="4647363" cy="2377440"/>
          </a:xfrm>
          <a:prstGeom prst="rect">
            <a:avLst/>
          </a:prstGeom>
          <a:noFill/>
          <a:ln/>
        </p:spPr>
        <p:txBody>
          <a:bodyPr wrap="square" lIns="635" tIns="635" rIns="635" bIns="635" rtlCol="0" anchor="t"/>
          <a:lstStyle/>
          <a:p>
            <a:pPr marL="279400" indent="-279400">
              <a:spcAft>
                <a:spcPts val="5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Read Only Memory, means can only access the data not change it.</a:t>
            </a:r>
            <a:endParaRPr lang="en-US" sz="1300" dirty="0"/>
          </a:p>
          <a:p>
            <a:pPr marL="279400" indent="-279400">
              <a:spcAft>
                <a:spcPts val="5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A: Address of the memory you try to access.</a:t>
            </a:r>
            <a:endParaRPr lang="en-US" sz="1300" dirty="0"/>
          </a:p>
          <a:p>
            <a:pPr marL="279400" indent="-279400">
              <a:spcAft>
                <a:spcPts val="5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D: Data you retrieve present at A</a:t>
            </a:r>
            <a:endParaRPr lang="en-US" sz="1300" dirty="0"/>
          </a:p>
          <a:p>
            <a:pPr marL="279400" indent="-279400">
              <a:spcAft>
                <a:spcPts val="5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A takes 8 bits</a:t>
            </a:r>
            <a:endParaRPr lang="en-US" sz="1300" dirty="0"/>
          </a:p>
          <a:p>
            <a:pPr marL="457200" lvl="1" indent="-228600">
              <a:spcAft>
                <a:spcPts val="500"/>
              </a:spcAft>
              <a:buClr>
                <a:srgbClr val="B5135F"/>
              </a:buClr>
              <a:buSzPct val="100000"/>
              <a:buChar char="○"/>
            </a:pPr>
            <a:r>
              <a:rPr lang="en-US" sz="1150" dirty="0">
                <a:solidFill>
                  <a:srgbClr val="595959"/>
                </a:solidFill>
                <a:latin typeface="Century Gothic" pitchFamily="34" charset="0"/>
                <a:ea typeface="Century Gothic" pitchFamily="34" charset="-122"/>
                <a:cs typeface="Century Gothic" pitchFamily="34" charset="-120"/>
              </a:rPr>
              <a:t>Means you can address 2</a:t>
            </a:r>
            <a:r>
              <a:rPr lang="en-GB" altLang="en-US" sz="1150" baseline="30000" dirty="0">
                <a:solidFill>
                  <a:srgbClr val="595959"/>
                </a:solidFill>
                <a:latin typeface="Century Gothic" pitchFamily="34" charset="0"/>
                <a:ea typeface="Century Gothic" pitchFamily="34" charset="-122"/>
                <a:cs typeface="Century Gothic" pitchFamily="34" charset="-120"/>
              </a:rPr>
              <a:t>8</a:t>
            </a:r>
            <a:r>
              <a:rPr lang="en-GB" altLang="en-US" sz="1150" dirty="0">
                <a:solidFill>
                  <a:srgbClr val="595959"/>
                </a:solidFill>
                <a:latin typeface="Century Gothic" pitchFamily="34" charset="0"/>
                <a:ea typeface="Century Gothic" pitchFamily="34" charset="-122"/>
                <a:cs typeface="Century Gothic" pitchFamily="34" charset="-120"/>
              </a:rPr>
              <a:t> = 256 things</a:t>
            </a:r>
            <a:endParaRPr lang="en-US" sz="1300" dirty="0"/>
          </a:p>
          <a:p>
            <a:pPr marL="279400" indent="-279400">
              <a:spcAft>
                <a:spcPts val="5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D gives 8 bits</a:t>
            </a:r>
            <a:endParaRPr lang="en-US" sz="1300" dirty="0"/>
          </a:p>
          <a:p>
            <a:pPr marL="457200" lvl="1" indent="-228600">
              <a:spcAft>
                <a:spcPts val="500"/>
              </a:spcAft>
              <a:buClr>
                <a:srgbClr val="B5135F"/>
              </a:buClr>
              <a:buSzPct val="100000"/>
              <a:buChar char="○"/>
            </a:pPr>
            <a:r>
              <a:rPr lang="en-US" sz="1150" dirty="0">
                <a:solidFill>
                  <a:srgbClr val="595959"/>
                </a:solidFill>
                <a:latin typeface="Century Gothic" pitchFamily="34" charset="0"/>
                <a:ea typeface="Century Gothic" pitchFamily="34" charset="-122"/>
                <a:cs typeface="Century Gothic" pitchFamily="34" charset="-120"/>
              </a:rPr>
              <a:t>Means each address corresponds to 1 byte of data</a:t>
            </a:r>
            <a:endParaRPr lang="en-US" sz="1300" dirty="0"/>
          </a:p>
          <a:p>
            <a:pPr marL="279400" indent="-279400">
              <a:spcAft>
                <a:spcPts val="5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Therefore, you have 256 x 1 B = 256B of data inside the ROM</a:t>
            </a:r>
            <a:endParaRPr lang="en-US" sz="1300" dirty="0"/>
          </a:p>
        </p:txBody>
      </p:sp>
      <p:pic>
        <p:nvPicPr>
          <p:cNvPr id="4" name="Image 0" descr="rom.png"/>
          <p:cNvPicPr>
            <a:picLocks noChangeAspect="1"/>
          </p:cNvPicPr>
          <p:nvPr/>
        </p:nvPicPr>
        <p:blipFill>
          <a:blip r:embed="rId4"/>
          <a:stretch>
            <a:fillRect/>
          </a:stretch>
        </p:blipFill>
        <p:spPr>
          <a:xfrm>
            <a:off x="5715000" y="2135275"/>
            <a:ext cx="3429000" cy="145701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79231" y="816429"/>
            <a:ext cx="7132320" cy="722225"/>
          </a:xfrm>
          <a:prstGeom prst="rect">
            <a:avLst/>
          </a:prstGeom>
          <a:noFill/>
          <a:ln/>
        </p:spPr>
        <p:txBody>
          <a:bodyPr wrap="square" lIns="635" tIns="635" rIns="635" bIns="635" rtlCol="0" anchor="ctr"/>
          <a:lstStyle/>
          <a:p>
            <a:pPr marL="0" indent="0">
              <a:buNone/>
            </a:pPr>
            <a:r>
              <a:rPr lang="en-US" sz="3200" dirty="0">
                <a:solidFill>
                  <a:srgbClr val="FFFFFF"/>
                </a:solidFill>
                <a:latin typeface="Century Gothic" pitchFamily="34" charset="0"/>
                <a:ea typeface="Century Gothic" pitchFamily="34" charset="-122"/>
                <a:cs typeface="Century Gothic" pitchFamily="34" charset="-120"/>
              </a:rPr>
              <a:t>RAM in Logisim</a:t>
            </a:r>
            <a:endParaRPr lang="en-US" sz="3200" dirty="0"/>
          </a:p>
        </p:txBody>
      </p:sp>
      <p:sp>
        <p:nvSpPr>
          <p:cNvPr id="3" name="Text 1"/>
          <p:cNvSpPr txBox="1"/>
          <p:nvPr/>
        </p:nvSpPr>
        <p:spPr>
          <a:xfrm>
            <a:off x="1004835" y="1664258"/>
            <a:ext cx="4144945" cy="3017520"/>
          </a:xfrm>
          <a:prstGeom prst="rect">
            <a:avLst/>
          </a:prstGeom>
          <a:noFill/>
          <a:ln/>
        </p:spPr>
        <p:txBody>
          <a:bodyPr wrap="square" lIns="635" tIns="635" rIns="635" bIns="635" rtlCol="0" anchor="t"/>
          <a:lstStyle/>
          <a:p>
            <a:pPr marL="279400" indent="-279400">
              <a:spcAft>
                <a:spcPts val="1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Random Access Memory</a:t>
            </a:r>
            <a:endParaRPr lang="en-US" sz="1300" dirty="0"/>
          </a:p>
          <a:p>
            <a:pPr marL="279400" indent="-279400">
              <a:spcAft>
                <a:spcPts val="1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Volatile Memory (lose it on turning power off)</a:t>
            </a:r>
            <a:endParaRPr lang="en-US" sz="1300" dirty="0"/>
          </a:p>
          <a:p>
            <a:pPr marL="279400" indent="-279400">
              <a:spcAft>
                <a:spcPts val="1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can be read and changed in any order, typically used to store working data and machine code.</a:t>
            </a:r>
            <a:endParaRPr lang="en-US" sz="1300" dirty="0"/>
          </a:p>
          <a:p>
            <a:pPr marL="279400" indent="-279400">
              <a:spcAft>
                <a:spcPts val="1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A: Address to write to/read from</a:t>
            </a:r>
            <a:endParaRPr lang="en-US" sz="1300" dirty="0"/>
          </a:p>
          <a:p>
            <a:pPr marL="279400" indent="-279400">
              <a:spcAft>
                <a:spcPts val="1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M3: writing (store)</a:t>
            </a:r>
            <a:endParaRPr lang="en-US" sz="1300" dirty="0"/>
          </a:p>
          <a:p>
            <a:pPr marL="279400" indent="-279400">
              <a:spcAft>
                <a:spcPts val="1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M2: reading (load)</a:t>
            </a:r>
            <a:endParaRPr lang="en-US" sz="1300" dirty="0"/>
          </a:p>
          <a:p>
            <a:pPr marL="279400" indent="-279400">
              <a:spcAft>
                <a:spcPts val="1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Clk: Clock</a:t>
            </a:r>
            <a:endParaRPr lang="en-US" sz="1300" dirty="0"/>
          </a:p>
          <a:p>
            <a:pPr marL="279400" indent="-279400">
              <a:spcAft>
                <a:spcPts val="1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Din: Data you write</a:t>
            </a:r>
            <a:endParaRPr lang="en-US" sz="1300" dirty="0"/>
          </a:p>
          <a:p>
            <a:pPr marL="279400" indent="-279400">
              <a:spcAft>
                <a:spcPts val="1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Dout: Data you read</a:t>
            </a:r>
            <a:endParaRPr lang="en-US" sz="1300" dirty="0"/>
          </a:p>
          <a:p>
            <a:pPr marL="279400" indent="-279400">
              <a:spcAft>
                <a:spcPts val="1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A: 8 bits meaning 256 things</a:t>
            </a:r>
            <a:endParaRPr lang="en-US" sz="1300" dirty="0"/>
          </a:p>
          <a:p>
            <a:pPr marL="279400" indent="-279400">
              <a:spcAft>
                <a:spcPts val="1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D: 8 bits meaning each ‘thing’ is 1 B</a:t>
            </a:r>
            <a:endParaRPr lang="en-US" sz="1300" dirty="0"/>
          </a:p>
          <a:p>
            <a:pPr marL="279400" indent="-279400">
              <a:spcAft>
                <a:spcPts val="1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So, total we have 256x1B = 256B data in the RAM</a:t>
            </a:r>
            <a:endParaRPr lang="en-US" sz="1300" dirty="0"/>
          </a:p>
        </p:txBody>
      </p:sp>
      <p:pic>
        <p:nvPicPr>
          <p:cNvPr id="4" name="Image 0" descr="ram.png"/>
          <p:cNvPicPr>
            <a:picLocks noChangeAspect="1"/>
          </p:cNvPicPr>
          <p:nvPr/>
        </p:nvPicPr>
        <p:blipFill>
          <a:blip r:embed="rId4"/>
          <a:stretch>
            <a:fillRect/>
          </a:stretch>
        </p:blipFill>
        <p:spPr>
          <a:xfrm>
            <a:off x="5187462" y="1306286"/>
            <a:ext cx="3604846" cy="301450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79231" y="816429"/>
            <a:ext cx="7132320" cy="722225"/>
          </a:xfrm>
          <a:prstGeom prst="rect">
            <a:avLst/>
          </a:prstGeom>
          <a:noFill/>
          <a:ln/>
        </p:spPr>
        <p:txBody>
          <a:bodyPr wrap="square" lIns="635" tIns="635" rIns="635" bIns="635" rtlCol="0" anchor="ctr"/>
          <a:lstStyle/>
          <a:p>
            <a:pPr marL="0" indent="0">
              <a:buNone/>
            </a:pPr>
            <a:r>
              <a:rPr lang="en-US" sz="3200" dirty="0">
                <a:solidFill>
                  <a:srgbClr val="FFFFFF"/>
                </a:solidFill>
                <a:latin typeface="Century Gothic" pitchFamily="34" charset="0"/>
                <a:ea typeface="Century Gothic" pitchFamily="34" charset="-122"/>
                <a:cs typeface="Century Gothic" pitchFamily="34" charset="-120"/>
              </a:rPr>
              <a:t>What you need to do:</a:t>
            </a:r>
            <a:endParaRPr lang="en-US" sz="3200" dirty="0"/>
          </a:p>
        </p:txBody>
      </p:sp>
      <p:sp>
        <p:nvSpPr>
          <p:cNvPr id="3" name="Text 1"/>
          <p:cNvSpPr txBox="1"/>
          <p:nvPr/>
        </p:nvSpPr>
        <p:spPr>
          <a:xfrm>
            <a:off x="1004835" y="1645418"/>
            <a:ext cx="7315200" cy="2377440"/>
          </a:xfrm>
          <a:prstGeom prst="rect">
            <a:avLst/>
          </a:prstGeom>
          <a:noFill/>
          <a:ln/>
        </p:spPr>
        <p:txBody>
          <a:bodyPr wrap="square" lIns="635" tIns="635" rIns="635" bIns="635" rtlCol="0" anchor="t"/>
          <a:lstStyle/>
          <a:p>
            <a:pPr marL="279400" indent="-279400">
              <a:spcAft>
                <a:spcPts val="3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read from ROM</a:t>
            </a:r>
            <a:endParaRPr lang="en-US" sz="1300" dirty="0"/>
          </a:p>
          <a:p>
            <a:pPr marL="457200" lvl="1" indent="-228600">
              <a:spcAft>
                <a:spcPts val="300"/>
              </a:spcAft>
              <a:buClr>
                <a:srgbClr val="B5135F"/>
              </a:buClr>
              <a:buSzPct val="100000"/>
              <a:buChar char="○"/>
            </a:pPr>
            <a:r>
              <a:rPr lang="en-US" sz="1150" dirty="0">
                <a:solidFill>
                  <a:srgbClr val="595959"/>
                </a:solidFill>
                <a:latin typeface="Century Gothic" pitchFamily="34" charset="0"/>
                <a:ea typeface="Century Gothic" pitchFamily="34" charset="-122"/>
                <a:cs typeface="Century Gothic" pitchFamily="34" charset="-120"/>
              </a:rPr>
              <a:t>Control Bus: read from ROM</a:t>
            </a:r>
            <a:endParaRPr lang="en-US" sz="1300" dirty="0"/>
          </a:p>
          <a:p>
            <a:pPr marL="457200" lvl="1" indent="-228600">
              <a:spcAft>
                <a:spcPts val="300"/>
              </a:spcAft>
              <a:buClr>
                <a:srgbClr val="B5135F"/>
              </a:buClr>
              <a:buSzPct val="100000"/>
              <a:buChar char="○"/>
            </a:pPr>
            <a:r>
              <a:rPr lang="en-US" sz="1150" dirty="0">
                <a:solidFill>
                  <a:srgbClr val="595959"/>
                </a:solidFill>
                <a:latin typeface="Century Gothic" pitchFamily="34" charset="0"/>
                <a:ea typeface="Century Gothic" pitchFamily="34" charset="-122"/>
                <a:cs typeface="Century Gothic" pitchFamily="34" charset="-120"/>
              </a:rPr>
              <a:t>Address Bus: where to read</a:t>
            </a:r>
            <a:endParaRPr lang="en-US" sz="1300" dirty="0"/>
          </a:p>
          <a:p>
            <a:pPr marL="457200" lvl="1" indent="-228600">
              <a:spcAft>
                <a:spcPts val="300"/>
              </a:spcAft>
              <a:buClr>
                <a:srgbClr val="B5135F"/>
              </a:buClr>
              <a:buSzPct val="100000"/>
              <a:buChar char="○"/>
            </a:pPr>
            <a:r>
              <a:rPr lang="en-US" sz="1150" dirty="0">
                <a:solidFill>
                  <a:srgbClr val="595959"/>
                </a:solidFill>
                <a:latin typeface="Century Gothic" pitchFamily="34" charset="0"/>
                <a:ea typeface="Century Gothic" pitchFamily="34" charset="-122"/>
                <a:cs typeface="Century Gothic" pitchFamily="34" charset="-120"/>
              </a:rPr>
              <a:t>ROM: read the data</a:t>
            </a:r>
            <a:endParaRPr lang="en-US" sz="1300" dirty="0"/>
          </a:p>
          <a:p>
            <a:pPr marL="457200" lvl="1" indent="-228600">
              <a:spcAft>
                <a:spcPts val="300"/>
              </a:spcAft>
              <a:buClr>
                <a:srgbClr val="B5135F"/>
              </a:buClr>
              <a:buSzPct val="100000"/>
              <a:buChar char="○"/>
            </a:pPr>
            <a:r>
              <a:rPr lang="en-US" sz="1150" dirty="0">
                <a:solidFill>
                  <a:srgbClr val="595959"/>
                </a:solidFill>
                <a:latin typeface="Century Gothic" pitchFamily="34" charset="0"/>
                <a:ea typeface="Century Gothic" pitchFamily="34" charset="-122"/>
                <a:cs typeface="Century Gothic" pitchFamily="34" charset="-120"/>
              </a:rPr>
              <a:t>Data Bus: put the read data in the data bus</a:t>
            </a:r>
            <a:endParaRPr lang="en-US" sz="1300" dirty="0"/>
          </a:p>
          <a:p>
            <a:pPr marL="279400" indent="-279400">
              <a:spcAft>
                <a:spcPts val="3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read from RAM</a:t>
            </a:r>
            <a:endParaRPr lang="en-US" sz="1300" dirty="0"/>
          </a:p>
          <a:p>
            <a:pPr marL="279400" indent="-279400">
              <a:spcAft>
                <a:spcPts val="3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write to RAM</a:t>
            </a:r>
            <a:endParaRPr lang="en-US" sz="1300" dirty="0"/>
          </a:p>
          <a:p>
            <a:pPr marL="279400" indent="-279400">
              <a:spcAft>
                <a:spcPts val="3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read from I/O device</a:t>
            </a:r>
            <a:endParaRPr lang="en-US" sz="1300" dirty="0"/>
          </a:p>
          <a:p>
            <a:pPr marL="279400" indent="-279400">
              <a:spcAft>
                <a:spcPts val="3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write to I/O device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79231" y="816429"/>
            <a:ext cx="7132320" cy="722225"/>
          </a:xfrm>
          <a:prstGeom prst="rect">
            <a:avLst/>
          </a:prstGeom>
          <a:noFill/>
          <a:ln/>
        </p:spPr>
        <p:txBody>
          <a:bodyPr wrap="square" lIns="635" tIns="635" rIns="635" bIns="635" rtlCol="0" anchor="ctr"/>
          <a:lstStyle/>
          <a:p>
            <a:pPr marL="0" indent="0">
              <a:buNone/>
            </a:pPr>
            <a:r>
              <a:rPr lang="en-US" sz="3200" dirty="0">
                <a:solidFill>
                  <a:srgbClr val="FFFFFF"/>
                </a:solidFill>
                <a:latin typeface="Century Gothic" pitchFamily="34" charset="0"/>
                <a:ea typeface="Century Gothic" pitchFamily="34" charset="-122"/>
                <a:cs typeface="Century Gothic" pitchFamily="34" charset="-120"/>
              </a:rPr>
              <a:t>How to implement</a:t>
            </a:r>
            <a:endParaRPr lang="en-US" sz="3200" dirty="0"/>
          </a:p>
        </p:txBody>
      </p:sp>
      <p:sp>
        <p:nvSpPr>
          <p:cNvPr id="3" name="Text 1"/>
          <p:cNvSpPr txBox="1"/>
          <p:nvPr/>
        </p:nvSpPr>
        <p:spPr>
          <a:xfrm>
            <a:off x="1004835" y="1821264"/>
            <a:ext cx="7315200" cy="2377440"/>
          </a:xfrm>
          <a:prstGeom prst="rect">
            <a:avLst/>
          </a:prstGeom>
          <a:noFill/>
          <a:ln/>
        </p:spPr>
        <p:txBody>
          <a:bodyPr wrap="square" lIns="635" tIns="635" rIns="635" bIns="635" rtlCol="0" anchor="t"/>
          <a:lstStyle/>
          <a:p>
            <a:pPr marL="330200" indent="-330200">
              <a:spcAft>
                <a:spcPts val="300"/>
              </a:spcAft>
              <a:buClr>
                <a:srgbClr val="B5135F"/>
              </a:buClr>
              <a:buSzPct val="100000"/>
              <a:buFont typeface="+mj-lt"/>
              <a:buAutoNum type="arabicPeriod"/>
            </a:pPr>
            <a:r>
              <a:rPr lang="en-US" sz="1300" dirty="0">
                <a:solidFill>
                  <a:srgbClr val="595959"/>
                </a:solidFill>
                <a:latin typeface="Century Gothic" pitchFamily="34" charset="0"/>
                <a:ea typeface="Century Gothic" pitchFamily="34" charset="-122"/>
                <a:cs typeface="Century Gothic" pitchFamily="34" charset="-120"/>
              </a:rPr>
              <a:t>Assume that you have the Control, Address and Data signals from CPU.</a:t>
            </a:r>
            <a:endParaRPr lang="en-US" sz="1300" dirty="0"/>
          </a:p>
          <a:p>
            <a:pPr marL="330200" indent="-330200">
              <a:spcAft>
                <a:spcPts val="300"/>
              </a:spcAft>
              <a:buClr>
                <a:srgbClr val="B5135F"/>
              </a:buClr>
              <a:buSzPct val="100000"/>
              <a:buFont typeface="+mj-lt"/>
              <a:buAutoNum type="arabicPeriod"/>
            </a:pPr>
            <a:r>
              <a:rPr lang="en-US" sz="1300" dirty="0">
                <a:solidFill>
                  <a:srgbClr val="595959"/>
                </a:solidFill>
                <a:latin typeface="Century Gothic" pitchFamily="34" charset="0"/>
                <a:ea typeface="Century Gothic" pitchFamily="34" charset="-122"/>
                <a:cs typeface="Century Gothic" pitchFamily="34" charset="-120"/>
              </a:rPr>
              <a:t>Use these to create the three buses. Data Bus needs to be bidirectional.</a:t>
            </a:r>
            <a:endParaRPr lang="en-US" sz="1300" dirty="0"/>
          </a:p>
          <a:p>
            <a:pPr marL="330200" indent="-330200">
              <a:spcAft>
                <a:spcPts val="300"/>
              </a:spcAft>
              <a:buClr>
                <a:srgbClr val="B5135F"/>
              </a:buClr>
              <a:buSzPct val="100000"/>
              <a:buFont typeface="+mj-lt"/>
              <a:buAutoNum type="arabicPeriod"/>
            </a:pPr>
            <a:r>
              <a:rPr lang="en-US" sz="1300" dirty="0">
                <a:solidFill>
                  <a:srgbClr val="595959"/>
                </a:solidFill>
                <a:latin typeface="Century Gothic" pitchFamily="34" charset="0"/>
                <a:ea typeface="Century Gothic" pitchFamily="34" charset="-122"/>
                <a:cs typeface="Century Gothic" pitchFamily="34" charset="-120"/>
              </a:rPr>
              <a:t>Build a Memory Unit (consisting of RAM and ROM)</a:t>
            </a:r>
            <a:endParaRPr lang="en-US" sz="1300" dirty="0"/>
          </a:p>
          <a:p>
            <a:pPr marL="330200" indent="-330200">
              <a:spcAft>
                <a:spcPts val="300"/>
              </a:spcAft>
              <a:buClr>
                <a:srgbClr val="B5135F"/>
              </a:buClr>
              <a:buSzPct val="100000"/>
              <a:buFont typeface="+mj-lt"/>
              <a:buAutoNum type="arabicPeriod"/>
            </a:pPr>
            <a:r>
              <a:rPr lang="en-US" sz="1300" dirty="0">
                <a:solidFill>
                  <a:srgbClr val="595959"/>
                </a:solidFill>
                <a:latin typeface="Century Gothic" pitchFamily="34" charset="0"/>
                <a:ea typeface="Century Gothic" pitchFamily="34" charset="-122"/>
                <a:cs typeface="Century Gothic" pitchFamily="34" charset="-120"/>
              </a:rPr>
              <a:t>Build an I/O Unit</a:t>
            </a:r>
            <a:endParaRPr lang="en-US" sz="1300" dirty="0"/>
          </a:p>
          <a:p>
            <a:pPr marL="330200" indent="-330200">
              <a:spcAft>
                <a:spcPts val="300"/>
              </a:spcAft>
              <a:buClr>
                <a:srgbClr val="B5135F"/>
              </a:buClr>
              <a:buSzPct val="100000"/>
              <a:buFont typeface="+mj-lt"/>
              <a:buAutoNum type="arabicPeriod"/>
            </a:pPr>
            <a:r>
              <a:rPr lang="en-US" sz="1300" dirty="0">
                <a:solidFill>
                  <a:srgbClr val="595959"/>
                </a:solidFill>
                <a:latin typeface="Century Gothic" pitchFamily="34" charset="0"/>
                <a:ea typeface="Century Gothic" pitchFamily="34" charset="-122"/>
                <a:cs typeface="Century Gothic" pitchFamily="34" charset="-120"/>
              </a:rPr>
              <a:t>Use the control signals to figure out which of the 5 operations you need to do. (Build Decoder)</a:t>
            </a:r>
            <a:endParaRPr lang="en-US" sz="1300" dirty="0"/>
          </a:p>
          <a:p>
            <a:pPr marL="330200" indent="-330200">
              <a:spcAft>
                <a:spcPts val="300"/>
              </a:spcAft>
              <a:buClr>
                <a:srgbClr val="B5135F"/>
              </a:buClr>
              <a:buSzPct val="100000"/>
              <a:buFont typeface="+mj-lt"/>
              <a:buAutoNum type="arabicPeriod"/>
            </a:pPr>
            <a:r>
              <a:rPr lang="en-US" sz="1300" dirty="0">
                <a:solidFill>
                  <a:srgbClr val="595959"/>
                </a:solidFill>
                <a:latin typeface="Century Gothic" pitchFamily="34" charset="0"/>
                <a:ea typeface="Century Gothic" pitchFamily="34" charset="-122"/>
                <a:cs typeface="Century Gothic" pitchFamily="34" charset="-120"/>
              </a:rPr>
              <a:t>Depending on the output of decoder, send read/write enable, address and data(if required) to the Memory Unit or I/O Unit and get data from the unit back to the data bus (if required)</a:t>
            </a:r>
            <a:endParaRPr lang="en-US" sz="1300" dirty="0"/>
          </a:p>
          <a:p>
            <a:pPr marL="330200" indent="-330200">
              <a:spcAft>
                <a:spcPts val="300"/>
              </a:spcAft>
              <a:buClr>
                <a:srgbClr val="B5135F"/>
              </a:buClr>
              <a:buSzPct val="100000"/>
              <a:buFont typeface="+mj-lt"/>
              <a:buAutoNum type="arabicPeriod"/>
            </a:pPr>
            <a:r>
              <a:rPr lang="en-US" sz="1300" dirty="0">
                <a:solidFill>
                  <a:srgbClr val="595959"/>
                </a:solidFill>
                <a:latin typeface="Century Gothic" pitchFamily="34" charset="0"/>
                <a:ea typeface="Century Gothic" pitchFamily="34" charset="-122"/>
                <a:cs typeface="Century Gothic" pitchFamily="34" charset="-120"/>
              </a:rPr>
              <a:t>Whenever you try to write data or read data, you need to store that data in a Register (called the Data Buffer) so that you can use this stored data again if you need it in the next operation.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79231" y="816429"/>
            <a:ext cx="7132320" cy="722225"/>
          </a:xfrm>
          <a:prstGeom prst="rect">
            <a:avLst/>
          </a:prstGeom>
          <a:noFill/>
          <a:ln/>
        </p:spPr>
        <p:txBody>
          <a:bodyPr wrap="square" lIns="635" tIns="635" rIns="635" bIns="635" rtlCol="0" anchor="ctr"/>
          <a:lstStyle/>
          <a:p>
            <a:pPr marL="0" indent="0">
              <a:buNone/>
            </a:pPr>
            <a:r>
              <a:rPr lang="en-US" sz="3200" dirty="0">
                <a:solidFill>
                  <a:srgbClr val="FFFFFF"/>
                </a:solidFill>
                <a:latin typeface="Century Gothic" pitchFamily="34" charset="0"/>
                <a:ea typeface="Century Gothic" pitchFamily="34" charset="-122"/>
                <a:cs typeface="Century Gothic" pitchFamily="34" charset="-120"/>
              </a:rPr>
              <a:t>1. CPU</a:t>
            </a:r>
            <a:endParaRPr lang="en-US" sz="3200" dirty="0"/>
          </a:p>
        </p:txBody>
      </p:sp>
      <p:sp>
        <p:nvSpPr>
          <p:cNvPr id="3" name="Text 1"/>
          <p:cNvSpPr txBox="1"/>
          <p:nvPr/>
        </p:nvSpPr>
        <p:spPr>
          <a:xfrm>
            <a:off x="1004835" y="2041071"/>
            <a:ext cx="7315200" cy="1097280"/>
          </a:xfrm>
          <a:prstGeom prst="rect">
            <a:avLst/>
          </a:prstGeom>
          <a:noFill/>
          <a:ln/>
        </p:spPr>
        <p:txBody>
          <a:bodyPr wrap="square" lIns="635" tIns="635" rIns="635" bIns="635" rtlCol="0" anchor="t"/>
          <a:lstStyle/>
          <a:p>
            <a:pPr marL="279400" indent="-279400">
              <a:spcAft>
                <a:spcPts val="3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Add a Control Input</a:t>
            </a:r>
            <a:endParaRPr lang="en-US" sz="1300" dirty="0"/>
          </a:p>
          <a:p>
            <a:pPr marL="279400" indent="-279400">
              <a:spcAft>
                <a:spcPts val="3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Add an Address Input</a:t>
            </a:r>
            <a:endParaRPr lang="en-US" sz="1300" dirty="0"/>
          </a:p>
          <a:p>
            <a:pPr marL="279400" indent="-279400">
              <a:spcAft>
                <a:spcPts val="3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Add a Data Input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79231" y="816429"/>
            <a:ext cx="7132320" cy="722225"/>
          </a:xfrm>
          <a:prstGeom prst="rect">
            <a:avLst/>
          </a:prstGeom>
          <a:noFill/>
          <a:ln/>
        </p:spPr>
        <p:txBody>
          <a:bodyPr wrap="square" lIns="635" tIns="635" rIns="635" bIns="635" rtlCol="0" anchor="ctr"/>
          <a:lstStyle/>
          <a:p>
            <a:pPr marL="0" indent="0">
              <a:buNone/>
            </a:pPr>
            <a:r>
              <a:rPr lang="en-US" sz="3200" dirty="0">
                <a:solidFill>
                  <a:srgbClr val="FFFFFF"/>
                </a:solidFill>
                <a:latin typeface="Century Gothic" pitchFamily="34" charset="0"/>
                <a:ea typeface="Century Gothic" pitchFamily="34" charset="-122"/>
                <a:cs typeface="Century Gothic" pitchFamily="34" charset="-120"/>
              </a:rPr>
              <a:t>2. Create Buses</a:t>
            </a:r>
            <a:endParaRPr lang="en-US" sz="3200" dirty="0"/>
          </a:p>
        </p:txBody>
      </p:sp>
      <p:sp>
        <p:nvSpPr>
          <p:cNvPr id="3" name="Text 1"/>
          <p:cNvSpPr txBox="1"/>
          <p:nvPr/>
        </p:nvSpPr>
        <p:spPr>
          <a:xfrm>
            <a:off x="929473" y="1771022"/>
            <a:ext cx="7315200" cy="1188720"/>
          </a:xfrm>
          <a:prstGeom prst="rect">
            <a:avLst/>
          </a:prstGeom>
          <a:noFill/>
          <a:ln/>
        </p:spPr>
        <p:txBody>
          <a:bodyPr wrap="square" lIns="635" tIns="635" rIns="635" bIns="635" rtlCol="0" anchor="t"/>
          <a:lstStyle/>
          <a:p>
            <a:pPr marL="279400" indent="-279400">
              <a:spcAft>
                <a:spcPts val="3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For unidirectional bus just directly use the input you have</a:t>
            </a:r>
            <a:endParaRPr lang="en-US" sz="1300" dirty="0"/>
          </a:p>
          <a:p>
            <a:pPr marL="279400" indent="-279400">
              <a:spcAft>
                <a:spcPts val="3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For bidirectional bus, implement using controlled buffer</a:t>
            </a:r>
            <a:endParaRPr lang="en-US" sz="1300" dirty="0"/>
          </a:p>
          <a:p>
            <a:pPr marL="457200" lvl="1" indent="-228600">
              <a:spcAft>
                <a:spcPts val="300"/>
              </a:spcAft>
              <a:buClr>
                <a:srgbClr val="B5135F"/>
              </a:buClr>
              <a:buSzPct val="100000"/>
              <a:buChar char="○"/>
            </a:pPr>
            <a:r>
              <a:rPr lang="en-US" sz="1250" dirty="0">
                <a:solidFill>
                  <a:srgbClr val="595959"/>
                </a:solidFill>
                <a:latin typeface="Century Gothic" pitchFamily="34" charset="0"/>
                <a:ea typeface="Century Gothic" pitchFamily="34" charset="-122"/>
                <a:cs typeface="Century Gothic" pitchFamily="34" charset="-120"/>
              </a:rPr>
              <a:t>You want to use the same bus to send data when writing and retrieve data when reading</a:t>
            </a:r>
            <a:endParaRPr lang="en-US" sz="1300" dirty="0"/>
          </a:p>
          <a:p>
            <a:pPr marL="457200" lvl="1" indent="-228600">
              <a:spcAft>
                <a:spcPts val="300"/>
              </a:spcAft>
              <a:buClr>
                <a:srgbClr val="B5135F"/>
              </a:buClr>
              <a:buSzPct val="100000"/>
              <a:buChar char="○"/>
            </a:pPr>
            <a:r>
              <a:rPr lang="en-US" sz="1250" dirty="0">
                <a:solidFill>
                  <a:srgbClr val="595959"/>
                </a:solidFill>
                <a:latin typeface="Century Gothic" pitchFamily="34" charset="0"/>
                <a:ea typeface="Century Gothic" pitchFamily="34" charset="-122"/>
                <a:cs typeface="Century Gothic" pitchFamily="34" charset="-120"/>
              </a:rPr>
              <a:t>How to make such a bus?</a:t>
            </a:r>
            <a:endParaRPr lang="en-US" sz="1300" dirty="0"/>
          </a:p>
        </p:txBody>
      </p:sp>
      <p:pic>
        <p:nvPicPr>
          <p:cNvPr id="4" name="Image 0" descr="bidir.png"/>
          <p:cNvPicPr>
            <a:picLocks noChangeAspect="1"/>
          </p:cNvPicPr>
          <p:nvPr/>
        </p:nvPicPr>
        <p:blipFill>
          <a:blip r:embed="rId4"/>
          <a:stretch>
            <a:fillRect/>
          </a:stretch>
        </p:blipFill>
        <p:spPr>
          <a:xfrm>
            <a:off x="2135275" y="2964264"/>
            <a:ext cx="4710165" cy="168309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79231" y="816429"/>
            <a:ext cx="7132320" cy="722225"/>
          </a:xfrm>
          <a:prstGeom prst="rect">
            <a:avLst/>
          </a:prstGeom>
          <a:noFill/>
          <a:ln/>
        </p:spPr>
        <p:txBody>
          <a:bodyPr wrap="square" lIns="635" tIns="635" rIns="635" bIns="635" rtlCol="0" anchor="ctr"/>
          <a:lstStyle/>
          <a:p>
            <a:pPr marL="0" indent="0">
              <a:buNone/>
            </a:pPr>
            <a:r>
              <a:rPr lang="en-US" sz="3200" dirty="0">
                <a:solidFill>
                  <a:srgbClr val="FFFFFF"/>
                </a:solidFill>
                <a:latin typeface="Century Gothic" pitchFamily="34" charset="0"/>
                <a:ea typeface="Century Gothic" pitchFamily="34" charset="-122"/>
                <a:cs typeface="Century Gothic" pitchFamily="34" charset="-120"/>
              </a:rPr>
              <a:t>3. Build a Memory Unit</a:t>
            </a:r>
            <a:endParaRPr lang="en-US" sz="3200" dirty="0"/>
          </a:p>
        </p:txBody>
      </p:sp>
      <p:sp>
        <p:nvSpPr>
          <p:cNvPr id="3" name="Text 1"/>
          <p:cNvSpPr txBox="1"/>
          <p:nvPr/>
        </p:nvSpPr>
        <p:spPr>
          <a:xfrm>
            <a:off x="1004835" y="1821264"/>
            <a:ext cx="7315200" cy="1463040"/>
          </a:xfrm>
          <a:prstGeom prst="rect">
            <a:avLst/>
          </a:prstGeom>
          <a:noFill/>
          <a:ln/>
        </p:spPr>
        <p:txBody>
          <a:bodyPr wrap="square" lIns="635" tIns="635" rIns="635" bIns="635" rtlCol="0" anchor="t"/>
          <a:lstStyle/>
          <a:p>
            <a:pPr marL="279400" indent="-279400">
              <a:spcAft>
                <a:spcPts val="3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Include a RAM and a ROM in the Unit</a:t>
            </a:r>
            <a:endParaRPr lang="en-US" sz="1300" dirty="0"/>
          </a:p>
          <a:p>
            <a:pPr marL="279400" indent="-279400">
              <a:spcAft>
                <a:spcPts val="3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Using the control signals, figure out which one you need for the current operation. Then, depending on if it is a read (address only) or a write (address and data) do the operation (write it inside the RAM or get the read data from RAM/ROM back to the data bus)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79231" y="816429"/>
            <a:ext cx="7132320" cy="722225"/>
          </a:xfrm>
          <a:prstGeom prst="rect">
            <a:avLst/>
          </a:prstGeom>
          <a:noFill/>
          <a:ln/>
        </p:spPr>
        <p:txBody>
          <a:bodyPr wrap="square" lIns="635" tIns="635" rIns="635" bIns="635" rtlCol="0" anchor="ctr"/>
          <a:lstStyle/>
          <a:p>
            <a:pPr marL="0" indent="0">
              <a:buNone/>
            </a:pPr>
            <a:r>
              <a:rPr lang="en-US" sz="3200" dirty="0">
                <a:solidFill>
                  <a:srgbClr val="FFFFFF"/>
                </a:solidFill>
                <a:latin typeface="Century Gothic" pitchFamily="34" charset="0"/>
                <a:ea typeface="Century Gothic" pitchFamily="34" charset="-122"/>
                <a:cs typeface="Century Gothic" pitchFamily="34" charset="-120"/>
              </a:rPr>
              <a:t>4. Build an I/O Unit</a:t>
            </a:r>
            <a:endParaRPr lang="en-US" sz="3200" dirty="0"/>
          </a:p>
        </p:txBody>
      </p:sp>
      <p:sp>
        <p:nvSpPr>
          <p:cNvPr id="3" name="Text 1"/>
          <p:cNvSpPr txBox="1"/>
          <p:nvPr/>
        </p:nvSpPr>
        <p:spPr>
          <a:xfrm>
            <a:off x="1004835" y="1664258"/>
            <a:ext cx="7315200" cy="2743200"/>
          </a:xfrm>
          <a:prstGeom prst="rect">
            <a:avLst/>
          </a:prstGeom>
          <a:noFill/>
          <a:ln/>
        </p:spPr>
        <p:txBody>
          <a:bodyPr wrap="square" lIns="635" tIns="635" rIns="635" bIns="635" rtlCol="0" anchor="t"/>
          <a:lstStyle/>
          <a:p>
            <a:pPr marL="279400" indent="-279400">
              <a:spcAft>
                <a:spcPts val="3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The I/O Unit has 4 input devices and 4 output devices.</a:t>
            </a:r>
            <a:endParaRPr lang="en-US" sz="1300" dirty="0"/>
          </a:p>
          <a:p>
            <a:pPr marL="279400" indent="-279400">
              <a:spcAft>
                <a:spcPts val="3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You take 8 bit input data using the input devices and you give back 8 bit data output using the output devices.</a:t>
            </a:r>
            <a:endParaRPr lang="en-US" sz="1300" dirty="0"/>
          </a:p>
          <a:p>
            <a:pPr marL="279400" indent="-279400">
              <a:spcAft>
                <a:spcPts val="3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How to address the I/O devices is up to you.</a:t>
            </a:r>
            <a:endParaRPr lang="en-US" sz="1300" dirty="0"/>
          </a:p>
          <a:p>
            <a:pPr marL="279400" indent="-279400">
              <a:spcAft>
                <a:spcPts val="3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How to implement?</a:t>
            </a:r>
            <a:endParaRPr lang="en-US" sz="1300" dirty="0"/>
          </a:p>
          <a:p>
            <a:pPr marL="457200" lvl="1" indent="-228600">
              <a:spcAft>
                <a:spcPts val="300"/>
              </a:spcAft>
              <a:buClr>
                <a:srgbClr val="B5135F"/>
              </a:buClr>
              <a:buSzPct val="100000"/>
              <a:buChar char="○"/>
            </a:pPr>
            <a:r>
              <a:rPr lang="en-US" sz="1150" dirty="0">
                <a:solidFill>
                  <a:srgbClr val="595959"/>
                </a:solidFill>
                <a:latin typeface="Century Gothic" pitchFamily="34" charset="0"/>
                <a:ea typeface="Century Gothic" pitchFamily="34" charset="-122"/>
                <a:cs typeface="Century Gothic" pitchFamily="34" charset="-120"/>
              </a:rPr>
              <a:t>You take four 8 bit inputs from the input devices and send it to the CPU</a:t>
            </a:r>
            <a:endParaRPr lang="en-US" sz="1300" dirty="0"/>
          </a:p>
          <a:p>
            <a:pPr marL="457200" lvl="1" indent="-228600">
              <a:spcAft>
                <a:spcPts val="300"/>
              </a:spcAft>
              <a:buClr>
                <a:srgbClr val="B5135F"/>
              </a:buClr>
              <a:buSzPct val="100000"/>
              <a:buChar char="○"/>
            </a:pPr>
            <a:r>
              <a:rPr lang="en-US" sz="1150" dirty="0">
                <a:solidFill>
                  <a:srgbClr val="595959"/>
                </a:solidFill>
                <a:latin typeface="Century Gothic" pitchFamily="34" charset="0"/>
                <a:ea typeface="Century Gothic" pitchFamily="34" charset="-122"/>
                <a:cs typeface="Century Gothic" pitchFamily="34" charset="-120"/>
              </a:rPr>
              <a:t>You have four 8 bit output devices (Lab 3 Problem 3) which take data from your CPU</a:t>
            </a:r>
            <a:endParaRPr lang="en-US" sz="1300" dirty="0"/>
          </a:p>
          <a:p>
            <a:pPr marL="457200" lvl="1" indent="-228600">
              <a:spcAft>
                <a:spcPts val="300"/>
              </a:spcAft>
              <a:buClr>
                <a:srgbClr val="B5135F"/>
              </a:buClr>
              <a:buSzPct val="100000"/>
              <a:buChar char="○"/>
            </a:pPr>
            <a:r>
              <a:rPr lang="en-US" sz="1150" dirty="0">
                <a:solidFill>
                  <a:srgbClr val="595959"/>
                </a:solidFill>
                <a:latin typeface="Century Gothic" pitchFamily="34" charset="0"/>
                <a:ea typeface="Century Gothic" pitchFamily="34" charset="-122"/>
                <a:cs typeface="Century Gothic" pitchFamily="34" charset="-120"/>
              </a:rPr>
              <a:t>If your operation is to read from IO then you choose the correct Input device using the address and read data from that input and send it to the data buffer.</a:t>
            </a:r>
            <a:endParaRPr lang="en-US" sz="1300" dirty="0"/>
          </a:p>
          <a:p>
            <a:pPr marL="457200" lvl="1" indent="-228600">
              <a:spcAft>
                <a:spcPts val="300"/>
              </a:spcAft>
              <a:buClr>
                <a:srgbClr val="B5135F"/>
              </a:buClr>
              <a:buSzPct val="100000"/>
              <a:buChar char="○"/>
            </a:pPr>
            <a:r>
              <a:rPr lang="en-US" sz="1150" dirty="0">
                <a:solidFill>
                  <a:srgbClr val="595959"/>
                </a:solidFill>
                <a:latin typeface="Century Gothic" pitchFamily="34" charset="0"/>
                <a:ea typeface="Century Gothic" pitchFamily="34" charset="-122"/>
                <a:cs typeface="Century Gothic" pitchFamily="34" charset="-120"/>
              </a:rPr>
              <a:t>If your operation is to write to the IO then you find the correct Output Device using the address and write to it the data you obtain from the CPU.</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79231" y="816429"/>
            <a:ext cx="7132320" cy="722225"/>
          </a:xfrm>
          <a:prstGeom prst="rect">
            <a:avLst/>
          </a:prstGeom>
          <a:noFill/>
          <a:ln/>
        </p:spPr>
        <p:txBody>
          <a:bodyPr wrap="square" lIns="635" tIns="635" rIns="635" bIns="635" rtlCol="0" anchor="ctr"/>
          <a:lstStyle/>
          <a:p>
            <a:pPr marL="0" indent="0">
              <a:buNone/>
            </a:pPr>
            <a:r>
              <a:rPr lang="en-US" sz="3200" dirty="0">
                <a:solidFill>
                  <a:srgbClr val="FFFFFF"/>
                </a:solidFill>
                <a:latin typeface="Century Gothic" pitchFamily="34" charset="0"/>
                <a:ea typeface="Century Gothic" pitchFamily="34" charset="-122"/>
                <a:cs typeface="Century Gothic" pitchFamily="34" charset="-120"/>
              </a:rPr>
              <a:t>5. Decoder</a:t>
            </a:r>
            <a:endParaRPr lang="en-US" sz="3200" dirty="0"/>
          </a:p>
        </p:txBody>
      </p:sp>
      <p:sp>
        <p:nvSpPr>
          <p:cNvPr id="3" name="Text 1"/>
          <p:cNvSpPr txBox="1"/>
          <p:nvPr/>
        </p:nvSpPr>
        <p:spPr>
          <a:xfrm>
            <a:off x="1004835" y="2041071"/>
            <a:ext cx="7315200" cy="914400"/>
          </a:xfrm>
          <a:prstGeom prst="rect">
            <a:avLst/>
          </a:prstGeom>
          <a:noFill/>
          <a:ln/>
        </p:spPr>
        <p:txBody>
          <a:bodyPr wrap="square" lIns="635" tIns="635" rIns="635" bIns="635" rtlCol="0" anchor="t"/>
          <a:lstStyle/>
          <a:p>
            <a:pPr marL="279400" indent="-279400">
              <a:spcAft>
                <a:spcPts val="3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You will input the control signals to figure out which of the required 5 operations are to be done and hence whether RAM, ROM, I/O is to be used and if we need to read/write.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79231" y="816429"/>
            <a:ext cx="7132320" cy="722225"/>
          </a:xfrm>
          <a:prstGeom prst="rect">
            <a:avLst/>
          </a:prstGeom>
          <a:noFill/>
          <a:ln/>
        </p:spPr>
        <p:txBody>
          <a:bodyPr wrap="square" lIns="635" tIns="635" rIns="635" bIns="635" rtlCol="0" anchor="ctr"/>
          <a:lstStyle/>
          <a:p>
            <a:pPr marL="0" indent="0">
              <a:buNone/>
            </a:pPr>
            <a:r>
              <a:rPr lang="en-US" sz="2700" dirty="0">
                <a:solidFill>
                  <a:srgbClr val="FFFFFF"/>
                </a:solidFill>
                <a:latin typeface="Century Gothic" pitchFamily="34" charset="0"/>
                <a:ea typeface="Century Gothic" pitchFamily="34" charset="-122"/>
                <a:cs typeface="Century Gothic" pitchFamily="34" charset="-120"/>
              </a:rPr>
              <a:t>6. Connections from Buses to Units</a:t>
            </a:r>
            <a:endParaRPr lang="en-US" sz="2700" dirty="0"/>
          </a:p>
        </p:txBody>
      </p:sp>
      <p:sp>
        <p:nvSpPr>
          <p:cNvPr id="3" name="Text 1"/>
          <p:cNvSpPr txBox="1"/>
          <p:nvPr/>
        </p:nvSpPr>
        <p:spPr>
          <a:xfrm>
            <a:off x="1004835" y="2041071"/>
            <a:ext cx="7315200" cy="1463040"/>
          </a:xfrm>
          <a:prstGeom prst="rect">
            <a:avLst/>
          </a:prstGeom>
          <a:noFill/>
          <a:ln/>
        </p:spPr>
        <p:txBody>
          <a:bodyPr wrap="square" lIns="635" tIns="635" rIns="635" bIns="635" rtlCol="0" anchor="t"/>
          <a:lstStyle/>
          <a:p>
            <a:pPr marL="279400" indent="-279400">
              <a:spcAft>
                <a:spcPts val="3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If it is a read, send address of location to the appropriate unit and get back read data from that unit.</a:t>
            </a:r>
            <a:endParaRPr lang="en-US" sz="1300" dirty="0"/>
          </a:p>
          <a:p>
            <a:pPr marL="279400" indent="-279400">
              <a:spcAft>
                <a:spcPts val="3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If it is a write, send address and data to the appropriate unit.</a:t>
            </a:r>
            <a:endParaRPr lang="en-US" sz="1300" dirty="0"/>
          </a:p>
          <a:p>
            <a:pPr marL="279400" indent="-279400">
              <a:spcAft>
                <a:spcPts val="3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Make sure every time you try to read a data, you store it in the data buffer and every time you try to write some data, that data is stored in the buffer as well.</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79231" y="816429"/>
            <a:ext cx="7132320" cy="722225"/>
          </a:xfrm>
          <a:prstGeom prst="rect">
            <a:avLst/>
          </a:prstGeom>
          <a:noFill/>
          <a:ln/>
        </p:spPr>
        <p:txBody>
          <a:bodyPr wrap="square" lIns="635" tIns="635" rIns="635" bIns="635" rtlCol="0" anchor="ctr"/>
          <a:lstStyle/>
          <a:p>
            <a:pPr marL="0" indent="0">
              <a:buNone/>
            </a:pPr>
            <a:r>
              <a:rPr lang="en-US" sz="3200" dirty="0">
                <a:solidFill>
                  <a:srgbClr val="FFFFFF"/>
                </a:solidFill>
                <a:latin typeface="Century Gothic" pitchFamily="34" charset="0"/>
                <a:ea typeface="Century Gothic" pitchFamily="34" charset="-122"/>
                <a:cs typeface="Century Gothic" pitchFamily="34" charset="-120"/>
              </a:rPr>
              <a:t>7. Data Buffer</a:t>
            </a:r>
            <a:endParaRPr lang="en-US" sz="3200" dirty="0"/>
          </a:p>
        </p:txBody>
      </p:sp>
      <p:sp>
        <p:nvSpPr>
          <p:cNvPr id="3" name="Text 1"/>
          <p:cNvSpPr txBox="1"/>
          <p:nvPr/>
        </p:nvSpPr>
        <p:spPr>
          <a:xfrm>
            <a:off x="1004835" y="2041071"/>
            <a:ext cx="7315200" cy="1463040"/>
          </a:xfrm>
          <a:prstGeom prst="rect">
            <a:avLst/>
          </a:prstGeom>
          <a:noFill/>
          <a:ln/>
        </p:spPr>
        <p:txBody>
          <a:bodyPr wrap="square" lIns="635" tIns="635" rIns="635" bIns="635" rtlCol="0" anchor="t"/>
          <a:lstStyle/>
          <a:p>
            <a:pPr marL="279400" indent="-279400">
              <a:spcAft>
                <a:spcPts val="3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Implement using Register in Logisim.</a:t>
            </a:r>
            <a:endParaRPr lang="en-US" sz="1300" dirty="0"/>
          </a:p>
          <a:p>
            <a:pPr marL="279400" indent="-279400">
              <a:spcAft>
                <a:spcPts val="3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If current operation requires you to write, then first input the data to this buffer and then use the output of this buffer to send data through data bus to the units.</a:t>
            </a:r>
            <a:endParaRPr lang="en-US" sz="1300" dirty="0"/>
          </a:p>
          <a:p>
            <a:pPr marL="279400" indent="-279400">
              <a:spcAft>
                <a:spcPts val="3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If current operation requires you to read, then finish the read operation from unit and then input the data you just acquired into the data buffer.</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79231" y="816429"/>
            <a:ext cx="7132320" cy="722225"/>
          </a:xfrm>
          <a:prstGeom prst="rect">
            <a:avLst/>
          </a:prstGeom>
          <a:noFill/>
          <a:ln/>
        </p:spPr>
        <p:txBody>
          <a:bodyPr wrap="square" lIns="635" tIns="635" rIns="635" bIns="635" rtlCol="0" anchor="ctr"/>
          <a:lstStyle/>
          <a:p>
            <a:pPr marL="0" indent="0">
              <a:buNone/>
            </a:pPr>
            <a:r>
              <a:rPr lang="en-US" sz="3200" dirty="0">
                <a:solidFill>
                  <a:srgbClr val="FFFFFF"/>
                </a:solidFill>
                <a:latin typeface="Century Gothic" pitchFamily="34" charset="0"/>
                <a:ea typeface="Century Gothic" pitchFamily="34" charset="-122"/>
                <a:cs typeface="Century Gothic" pitchFamily="34" charset="-120"/>
              </a:rPr>
              <a:t>REPORT:</a:t>
            </a:r>
            <a:endParaRPr lang="en-US" sz="3200" dirty="0"/>
          </a:p>
        </p:txBody>
      </p:sp>
      <p:sp>
        <p:nvSpPr>
          <p:cNvPr id="3" name="Text 1"/>
          <p:cNvSpPr txBox="1"/>
          <p:nvPr/>
        </p:nvSpPr>
        <p:spPr>
          <a:xfrm>
            <a:off x="1004835" y="1775290"/>
            <a:ext cx="7315200" cy="2194560"/>
          </a:xfrm>
          <a:prstGeom prst="rect">
            <a:avLst/>
          </a:prstGeom>
          <a:noFill/>
          <a:ln/>
        </p:spPr>
        <p:txBody>
          <a:bodyPr wrap="square" lIns="635" tIns="635" rIns="635" bIns="635" rtlCol="0" anchor="t"/>
          <a:lstStyle/>
          <a:p>
            <a:pPr marL="279400" indent="-279400">
              <a:spcAft>
                <a:spcPts val="3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Mention how the control signals for the 5 operations are implemented.</a:t>
            </a:r>
            <a:endParaRPr lang="en-US" sz="1300" dirty="0"/>
          </a:p>
          <a:p>
            <a:pPr marL="279400" indent="-279400">
              <a:spcAft>
                <a:spcPts val="3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Mention how the addressing for the I/O devices is done</a:t>
            </a:r>
            <a:endParaRPr lang="en-US" sz="1300" dirty="0"/>
          </a:p>
          <a:p>
            <a:pPr marL="279400" indent="-279400">
              <a:spcAft>
                <a:spcPts val="3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Explain how tri state buffers using controlled buffer ensures that your bus is bidirectional and how the buffer is handled differently in case of different operations.</a:t>
            </a:r>
            <a:endParaRPr lang="en-US" sz="1300" dirty="0"/>
          </a:p>
          <a:p>
            <a:pPr marL="279400" indent="-279400">
              <a:spcAft>
                <a:spcPts val="3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Mention some examples for your 5 operations that work on your design and what are the inputs and outputs for each of those examples.</a:t>
            </a:r>
            <a:endParaRPr lang="en-US" sz="1300" dirty="0"/>
          </a:p>
          <a:p>
            <a:pPr marL="279400" indent="-279400">
              <a:spcAft>
                <a:spcPts val="3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Screenshots of whole design and all the subparts (Memory and I/O Units)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79231" y="816429"/>
            <a:ext cx="7132320" cy="722225"/>
          </a:xfrm>
          <a:prstGeom prst="rect">
            <a:avLst/>
          </a:prstGeom>
          <a:noFill/>
          <a:ln/>
        </p:spPr>
        <p:txBody>
          <a:bodyPr wrap="square" lIns="635" tIns="635" rIns="635" bIns="635" rtlCol="0" anchor="ctr"/>
          <a:lstStyle/>
          <a:p>
            <a:pPr marL="0" indent="0">
              <a:buNone/>
            </a:pPr>
            <a:r>
              <a:rPr lang="en-US" sz="3200" dirty="0">
                <a:solidFill>
                  <a:srgbClr val="FFFFFF"/>
                </a:solidFill>
                <a:latin typeface="Century Gothic" pitchFamily="34" charset="0"/>
                <a:ea typeface="Century Gothic" pitchFamily="34" charset="-122"/>
                <a:cs typeface="Century Gothic" pitchFamily="34" charset="-120"/>
              </a:rPr>
              <a:t>PROBLEM 2</a:t>
            </a:r>
            <a:endParaRPr lang="en-US" sz="3200" dirty="0"/>
          </a:p>
        </p:txBody>
      </p:sp>
      <p:sp>
        <p:nvSpPr>
          <p:cNvPr id="3" name="Text 1"/>
          <p:cNvSpPr txBox="1"/>
          <p:nvPr/>
        </p:nvSpPr>
        <p:spPr>
          <a:xfrm>
            <a:off x="1004835" y="2041071"/>
            <a:ext cx="7315200" cy="1828800"/>
          </a:xfrm>
          <a:prstGeom prst="rect">
            <a:avLst/>
          </a:prstGeom>
          <a:noFill/>
          <a:ln/>
        </p:spPr>
        <p:txBody>
          <a:bodyPr wrap="square" lIns="635" tIns="635" rIns="635" bIns="635" rtlCol="0" anchor="t"/>
          <a:lstStyle/>
          <a:p>
            <a:pPr marL="0" indent="0">
              <a:spcAft>
                <a:spcPts val="300"/>
              </a:spcAft>
              <a:buNone/>
            </a:pPr>
            <a:r>
              <a:rPr lang="en-US" sz="1300" dirty="0">
                <a:solidFill>
                  <a:srgbClr val="595959"/>
                </a:solidFill>
                <a:latin typeface="Century Gothic" pitchFamily="34" charset="0"/>
                <a:ea typeface="Century Gothic" pitchFamily="34" charset="-122"/>
                <a:cs typeface="Century Gothic" pitchFamily="34" charset="-120"/>
              </a:rPr>
              <a:t>For 8-bit inputs:</a:t>
            </a:r>
            <a:endParaRPr lang="en-US" sz="1300" dirty="0"/>
          </a:p>
          <a:p>
            <a:pPr marL="279400" indent="-279400">
              <a:spcAft>
                <a:spcPts val="3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Design an adder (2 input)</a:t>
            </a:r>
            <a:endParaRPr lang="en-US" sz="1300" dirty="0"/>
          </a:p>
          <a:p>
            <a:pPr marL="279400" indent="-279400">
              <a:spcAft>
                <a:spcPts val="3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Design a subtracter – Using 2’s complement (2 input)</a:t>
            </a:r>
            <a:endParaRPr lang="en-US" sz="1300" dirty="0"/>
          </a:p>
          <a:p>
            <a:pPr marL="279400" indent="-279400">
              <a:spcAft>
                <a:spcPts val="3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Magnitude Comparator (2 input)</a:t>
            </a:r>
            <a:endParaRPr lang="en-US" sz="1300" dirty="0"/>
          </a:p>
          <a:p>
            <a:pPr marL="279400" indent="-279400">
              <a:spcAft>
                <a:spcPts val="1400"/>
              </a:spcAft>
              <a:buClr>
                <a:srgbClr val="B5135F"/>
              </a:buClr>
              <a:buSzPct val="80000"/>
              <a:buChar char="●"/>
            </a:pPr>
            <a:r>
              <a:rPr lang="en-US" sz="1300" dirty="0">
                <a:solidFill>
                  <a:srgbClr val="595959"/>
                </a:solidFill>
                <a:latin typeface="Century Gothic" pitchFamily="34" charset="0"/>
                <a:ea typeface="Century Gothic" pitchFamily="34" charset="-122"/>
                <a:cs typeface="Century Gothic" pitchFamily="34" charset="-120"/>
              </a:rPr>
              <a:t>Left and Right Barrel Shifter (2 inputs: The number and shift amount). </a:t>
            </a:r>
            <a:r>
              <a:rPr lang="en-GB" altLang="en-US" sz="1300" i="1" dirty="0">
                <a:solidFill>
                  <a:srgbClr val="595959"/>
                </a:solidFill>
                <a:latin typeface="Century Gothic" pitchFamily="34" charset="0"/>
                <a:ea typeface="Century Gothic" pitchFamily="34" charset="-122"/>
                <a:cs typeface="Century Gothic" pitchFamily="34" charset="-120"/>
              </a:rPr>
              <a:t>[Extra Credit]</a:t>
            </a:r>
            <a:endParaRPr lang="en-US" sz="1300" dirty="0"/>
          </a:p>
          <a:p>
            <a:pPr marL="0" indent="0">
              <a:buNone/>
            </a:pPr>
            <a:r>
              <a:rPr lang="en-US" sz="1300" dirty="0">
                <a:solidFill>
                  <a:srgbClr val="595959"/>
                </a:solidFill>
                <a:latin typeface="Century Gothic" pitchFamily="34" charset="0"/>
                <a:ea typeface="Century Gothic" pitchFamily="34" charset="-122"/>
                <a:cs typeface="Century Gothic" pitchFamily="34" charset="-120"/>
              </a:rPr>
              <a:t>Refer to Lecture Slides to understand how to implement each of these.</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79231" y="816429"/>
            <a:ext cx="7132320" cy="722225"/>
          </a:xfrm>
          <a:prstGeom prst="rect">
            <a:avLst/>
          </a:prstGeom>
          <a:noFill/>
          <a:ln/>
        </p:spPr>
        <p:txBody>
          <a:bodyPr wrap="square" lIns="635" tIns="635" rIns="635" bIns="635" rtlCol="0" anchor="ctr"/>
          <a:lstStyle/>
          <a:p>
            <a:pPr marL="0" indent="0">
              <a:buNone/>
            </a:pPr>
            <a:r>
              <a:rPr lang="en-US" sz="3200" dirty="0">
                <a:solidFill>
                  <a:srgbClr val="FFFFFF"/>
                </a:solidFill>
                <a:latin typeface="Century Gothic" pitchFamily="34" charset="0"/>
                <a:ea typeface="Century Gothic" pitchFamily="34" charset="-122"/>
                <a:cs typeface="Century Gothic" pitchFamily="34" charset="-120"/>
              </a:rPr>
              <a:t>PROBLEM 3 </a:t>
            </a:r>
            <a:r>
              <a:rPr lang="en-US" sz="3200" i="1" dirty="0">
                <a:solidFill>
                  <a:srgbClr val="FFFFFF"/>
                </a:solidFill>
                <a:latin typeface="Century Gothic" pitchFamily="34" charset="0"/>
                <a:ea typeface="Century Gothic" pitchFamily="34" charset="-122"/>
                <a:cs typeface="Century Gothic" pitchFamily="34" charset="-120"/>
              </a:rPr>
              <a:t>(Extra Credit)</a:t>
            </a:r>
            <a:endParaRPr lang="en-US" sz="3200" dirty="0"/>
          </a:p>
        </p:txBody>
      </p:sp>
      <p:sp>
        <p:nvSpPr>
          <p:cNvPr id="3" name="Text 1"/>
          <p:cNvSpPr txBox="1"/>
          <p:nvPr/>
        </p:nvSpPr>
        <p:spPr>
          <a:xfrm>
            <a:off x="1004835" y="2041071"/>
            <a:ext cx="7315200" cy="2377440"/>
          </a:xfrm>
          <a:prstGeom prst="rect">
            <a:avLst/>
          </a:prstGeom>
          <a:noFill/>
          <a:ln/>
        </p:spPr>
        <p:txBody>
          <a:bodyPr wrap="square" lIns="635" tIns="635" rIns="635" bIns="635" rtlCol="0" anchor="t"/>
          <a:lstStyle/>
          <a:p>
            <a:pPr marL="279400" indent="-279400">
              <a:spcAft>
                <a:spcPts val="300"/>
              </a:spcAft>
              <a:buClr>
                <a:srgbClr val="B5135F"/>
              </a:buClr>
              <a:buSzPct val="80000"/>
              <a:buChar char="●"/>
            </a:pPr>
            <a:r>
              <a:rPr lang="en-US" sz="1200" dirty="0">
                <a:solidFill>
                  <a:srgbClr val="595959"/>
                </a:solidFill>
                <a:latin typeface="Century Gothic" pitchFamily="34" charset="0"/>
                <a:ea typeface="Century Gothic" pitchFamily="34" charset="-122"/>
                <a:cs typeface="Century Gothic" pitchFamily="34" charset="-120"/>
              </a:rPr>
              <a:t>A single row of 20 LEDs</a:t>
            </a:r>
            <a:endParaRPr lang="en-US" sz="1200" dirty="0"/>
          </a:p>
          <a:p>
            <a:pPr marL="279400" indent="-279400">
              <a:spcAft>
                <a:spcPts val="300"/>
              </a:spcAft>
              <a:buClr>
                <a:srgbClr val="B5135F"/>
              </a:buClr>
              <a:buSzPct val="80000"/>
              <a:buChar char="●"/>
            </a:pPr>
            <a:r>
              <a:rPr lang="en-US" sz="1200" dirty="0">
                <a:solidFill>
                  <a:srgbClr val="595959"/>
                </a:solidFill>
                <a:latin typeface="Century Gothic" pitchFamily="34" charset="0"/>
                <a:ea typeface="Century Gothic" pitchFamily="34" charset="-122"/>
                <a:cs typeface="Century Gothic" pitchFamily="34" charset="-120"/>
              </a:rPr>
              <a:t>One input</a:t>
            </a:r>
            <a:endParaRPr lang="en-US" sz="1200" dirty="0"/>
          </a:p>
          <a:p>
            <a:pPr marL="279400" indent="-279400">
              <a:spcAft>
                <a:spcPts val="300"/>
              </a:spcAft>
              <a:buClr>
                <a:srgbClr val="B5135F"/>
              </a:buClr>
              <a:buSzPct val="80000"/>
              <a:buChar char="●"/>
            </a:pPr>
            <a:r>
              <a:rPr lang="en-US" sz="1200" dirty="0">
                <a:solidFill>
                  <a:srgbClr val="595959"/>
                </a:solidFill>
                <a:latin typeface="Century Gothic" pitchFamily="34" charset="0"/>
                <a:ea typeface="Century Gothic" pitchFamily="34" charset="-122"/>
                <a:cs typeface="Century Gothic" pitchFamily="34" charset="-120"/>
              </a:rPr>
              <a:t>If input is 0: The LEDS blink from Right to Left in sequence.</a:t>
            </a:r>
            <a:endParaRPr lang="en-US" sz="1200" dirty="0"/>
          </a:p>
          <a:p>
            <a:pPr marL="279400" indent="-279400">
              <a:spcAft>
                <a:spcPts val="300"/>
              </a:spcAft>
              <a:buClr>
                <a:srgbClr val="B5135F"/>
              </a:buClr>
              <a:buSzPct val="80000"/>
              <a:buChar char="●"/>
            </a:pPr>
            <a:r>
              <a:rPr lang="en-US" sz="1200" dirty="0">
                <a:solidFill>
                  <a:srgbClr val="595959"/>
                </a:solidFill>
                <a:latin typeface="Century Gothic" pitchFamily="34" charset="0"/>
                <a:ea typeface="Century Gothic" pitchFamily="34" charset="-122"/>
                <a:cs typeface="Century Gothic" pitchFamily="34" charset="-120"/>
              </a:rPr>
              <a:t>If input is 1: The LEDS blink from Left to Right in sequence.</a:t>
            </a:r>
            <a:endParaRPr lang="en-US" sz="1200" dirty="0"/>
          </a:p>
          <a:p>
            <a:pPr marL="279400" indent="-279400">
              <a:spcAft>
                <a:spcPts val="300"/>
              </a:spcAft>
              <a:buClr>
                <a:srgbClr val="B5135F"/>
              </a:buClr>
              <a:buSzPct val="80000"/>
              <a:buChar char="●"/>
            </a:pPr>
            <a:r>
              <a:rPr lang="en-US" sz="1200" dirty="0">
                <a:solidFill>
                  <a:srgbClr val="595959"/>
                </a:solidFill>
                <a:latin typeface="Century Gothic" pitchFamily="34" charset="0"/>
                <a:ea typeface="Century Gothic" pitchFamily="34" charset="-122"/>
                <a:cs typeface="Century Gothic" pitchFamily="34" charset="-120"/>
              </a:rPr>
              <a:t>Each LED should be ON for 0.25 seconds before it turns OFF and next LED turns ON.</a:t>
            </a:r>
            <a:endParaRPr lang="en-US" sz="1200" dirty="0"/>
          </a:p>
          <a:p>
            <a:pPr marL="279400" indent="-279400">
              <a:spcAft>
                <a:spcPts val="300"/>
              </a:spcAft>
              <a:buClr>
                <a:srgbClr val="B5135F"/>
              </a:buClr>
              <a:buSzPct val="80000"/>
              <a:buChar char="●"/>
            </a:pPr>
            <a:r>
              <a:rPr lang="en-US" sz="1200" dirty="0">
                <a:solidFill>
                  <a:srgbClr val="595959"/>
                </a:solidFill>
                <a:latin typeface="Century Gothic" pitchFamily="34" charset="0"/>
                <a:ea typeface="Century Gothic" pitchFamily="34" charset="-122"/>
                <a:cs typeface="Century Gothic" pitchFamily="34" charset="-120"/>
              </a:rPr>
              <a:t>How to implement?</a:t>
            </a:r>
            <a:endParaRPr lang="en-US" sz="1200" dirty="0"/>
          </a:p>
          <a:p>
            <a:pPr marL="457200" lvl="1" indent="-228600">
              <a:spcAft>
                <a:spcPts val="300"/>
              </a:spcAft>
              <a:buClr>
                <a:srgbClr val="B5135F"/>
              </a:buClr>
              <a:buSzPct val="100000"/>
              <a:buChar char="○"/>
            </a:pPr>
            <a:r>
              <a:rPr lang="en-US" sz="1000" dirty="0">
                <a:solidFill>
                  <a:srgbClr val="595959"/>
                </a:solidFill>
                <a:latin typeface="Century Gothic" pitchFamily="34" charset="0"/>
                <a:ea typeface="Century Gothic" pitchFamily="34" charset="-122"/>
                <a:cs typeface="Century Gothic" pitchFamily="34" charset="-120"/>
              </a:rPr>
              <a:t>Finite State Machine with 20 states.</a:t>
            </a:r>
            <a:endParaRPr lang="en-US" sz="1200" dirty="0"/>
          </a:p>
          <a:p>
            <a:pPr marL="457200" lvl="1" indent="-228600">
              <a:spcAft>
                <a:spcPts val="300"/>
              </a:spcAft>
              <a:buClr>
                <a:srgbClr val="B5135F"/>
              </a:buClr>
              <a:buSzPct val="100000"/>
              <a:buChar char="○"/>
            </a:pPr>
            <a:r>
              <a:rPr lang="en-US" sz="1000" dirty="0">
                <a:solidFill>
                  <a:srgbClr val="595959"/>
                </a:solidFill>
                <a:latin typeface="Century Gothic" pitchFamily="34" charset="0"/>
                <a:ea typeface="Century Gothic" pitchFamily="34" charset="-122"/>
                <a:cs typeface="Century Gothic" pitchFamily="34" charset="-120"/>
              </a:rPr>
              <a:t>Rather than writing a very large truth table for each state transition and finding the complex Boolean logic, you can use a counter to increment state values one by one. You increment in case of input 0 and decrement in case of 1.</a:t>
            </a:r>
            <a:endParaRPr lang="en-US" sz="1200" dirty="0"/>
          </a:p>
          <a:p>
            <a:pPr marL="457200" lvl="1" indent="-228600">
              <a:spcAft>
                <a:spcPts val="300"/>
              </a:spcAft>
              <a:buClr>
                <a:srgbClr val="B5135F"/>
              </a:buClr>
              <a:buSzPct val="100000"/>
              <a:buChar char="○"/>
            </a:pPr>
            <a:r>
              <a:rPr lang="en-US" sz="1000" dirty="0">
                <a:solidFill>
                  <a:srgbClr val="595959"/>
                </a:solidFill>
                <a:latin typeface="Century Gothic" pitchFamily="34" charset="0"/>
                <a:ea typeface="Century Gothic" pitchFamily="34" charset="-122"/>
                <a:cs typeface="Century Gothic" pitchFamily="34" charset="-120"/>
              </a:rPr>
              <a:t>After implementing, change the decoder to ROM and implement the same thing</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79231" y="816429"/>
            <a:ext cx="7132320" cy="722225"/>
          </a:xfrm>
          <a:prstGeom prst="rect">
            <a:avLst/>
          </a:prstGeom>
          <a:noFill/>
          <a:ln/>
        </p:spPr>
        <p:txBody>
          <a:bodyPr wrap="square" lIns="635" tIns="635" rIns="635" bIns="635" rtlCol="0" anchor="ctr"/>
          <a:lstStyle/>
          <a:p>
            <a:pPr marL="0" indent="0">
              <a:buNone/>
            </a:pPr>
            <a:r>
              <a:rPr lang="en-US" sz="3200" dirty="0">
                <a:solidFill>
                  <a:srgbClr val="FFFFFF"/>
                </a:solidFill>
                <a:latin typeface="Century Gothic" pitchFamily="34" charset="0"/>
                <a:ea typeface="Century Gothic" pitchFamily="34" charset="-122"/>
                <a:cs typeface="Century Gothic" pitchFamily="34" charset="-120"/>
              </a:rPr>
              <a:t>Files to be submitted</a:t>
            </a:r>
            <a:endParaRPr lang="en-US" sz="3200" dirty="0"/>
          </a:p>
        </p:txBody>
      </p:sp>
      <p:sp>
        <p:nvSpPr>
          <p:cNvPr id="3" name="Text 1"/>
          <p:cNvSpPr txBox="1"/>
          <p:nvPr/>
        </p:nvSpPr>
        <p:spPr>
          <a:xfrm>
            <a:off x="1004835" y="1727060"/>
            <a:ext cx="7315200" cy="1005840"/>
          </a:xfrm>
          <a:prstGeom prst="rect">
            <a:avLst/>
          </a:prstGeom>
          <a:noFill/>
          <a:ln/>
        </p:spPr>
        <p:txBody>
          <a:bodyPr wrap="square" lIns="635" tIns="635" rIns="635" bIns="635" rtlCol="0" anchor="t"/>
          <a:lstStyle/>
          <a:p>
            <a:pPr marL="0" indent="0">
              <a:buNone/>
            </a:pPr>
            <a:r>
              <a:rPr lang="en-US" sz="1300" dirty="0">
                <a:solidFill>
                  <a:srgbClr val="595959"/>
                </a:solidFill>
                <a:latin typeface="Century Gothic" pitchFamily="34" charset="0"/>
                <a:ea typeface="Century Gothic" pitchFamily="34" charset="-122"/>
                <a:cs typeface="Century Gothic" pitchFamily="34" charset="-120"/>
              </a:rPr>
              <a:t>Group Report</a:t>
            </a:r>
            <a:endParaRPr lang="en-US" sz="1300" dirty="0"/>
          </a:p>
          <a:p>
            <a:pPr marL="0" indent="0">
              <a:buNone/>
            </a:pPr>
            <a:r>
              <a:rPr lang="en-US" sz="1300" dirty="0">
                <a:solidFill>
                  <a:srgbClr val="595959"/>
                </a:solidFill>
                <a:latin typeface="Century Gothic" pitchFamily="34" charset="0"/>
                <a:ea typeface="Century Gothic" pitchFamily="34" charset="-122"/>
                <a:cs typeface="Century Gothic" pitchFamily="34" charset="-120"/>
              </a:rPr>
              <a:t>Individual Report</a:t>
            </a:r>
            <a:endParaRPr lang="en-US" sz="1300" dirty="0"/>
          </a:p>
          <a:p>
            <a:pPr marL="0" indent="0">
              <a:buNone/>
            </a:pPr>
            <a:r>
              <a:rPr lang="en-US" sz="1300" dirty="0">
                <a:solidFill>
                  <a:srgbClr val="595959"/>
                </a:solidFill>
                <a:latin typeface="Century Gothic" pitchFamily="34" charset="0"/>
                <a:ea typeface="Century Gothic" pitchFamily="34" charset="-122"/>
                <a:cs typeface="Century Gothic" pitchFamily="34" charset="-120"/>
              </a:rPr>
              <a:t>All Logisim Files with proper names (Problem1,2,3)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1529</Words>
  <Application>Microsoft Office PowerPoint</Application>
  <PresentationFormat>On-screen Show (16:9)</PresentationFormat>
  <Paragraphs>145</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Century Gothic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CSCE 312 Lab 4</dc:title>
  <dc:subject>PptxGenJS Presentation</dc:subject>
  <dc:creator>PptxGenJS</dc:creator>
  <cp:lastModifiedBy>Yash Salunkhe</cp:lastModifiedBy>
  <cp:revision>2</cp:revision>
  <dcterms:created xsi:type="dcterms:W3CDTF">2026-09-28T06:44:10Z</dcterms:created>
  <dcterms:modified xsi:type="dcterms:W3CDTF">2026-09-28T07:37:32Z</dcterms:modified>
</cp:coreProperties>
</file>